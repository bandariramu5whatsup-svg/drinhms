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2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8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87" r:id="rId21"/>
    <p:sldId id="293" r:id="rId22"/>
    <p:sldId id="276" r:id="rId23"/>
    <p:sldId id="277" r:id="rId24"/>
    <p:sldId id="278" r:id="rId25"/>
    <p:sldId id="280" r:id="rId26"/>
    <p:sldId id="281" r:id="rId27"/>
    <p:sldId id="282" r:id="rId28"/>
    <p:sldId id="283" r:id="rId29"/>
    <p:sldId id="285" r:id="rId30"/>
    <p:sldId id="286" r:id="rId31"/>
    <p:sldId id="259" r:id="rId32"/>
    <p:sldId id="279" r:id="rId33"/>
    <p:sldId id="288" r:id="rId34"/>
    <p:sldId id="292" r:id="rId35"/>
    <p:sldId id="284" r:id="rId36"/>
    <p:sldId id="289" r:id="rId37"/>
    <p:sldId id="290" r:id="rId38"/>
    <p:sldId id="291" r:id="rId39"/>
    <p:sldId id="294" r:id="rId40"/>
    <p:sldId id="295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C4D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00" autoAdjust="0"/>
    <p:restoredTop sz="96774" autoAdjust="0"/>
  </p:normalViewPr>
  <p:slideViewPr>
    <p:cSldViewPr>
      <p:cViewPr>
        <p:scale>
          <a:sx n="75" d="100"/>
          <a:sy n="75" d="100"/>
        </p:scale>
        <p:origin x="-126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IN"/>
  <c:chart>
    <c:autoTitleDeleted val="1"/>
    <c:plotArea>
      <c:layout>
        <c:manualLayout>
          <c:layoutTarget val="inner"/>
          <c:xMode val="edge"/>
          <c:yMode val="edge"/>
          <c:x val="5.9139784946236749E-2"/>
          <c:y val="0.17230224106602093"/>
          <c:w val="0.51183600033866739"/>
          <c:h val="0.732319200484555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Anil kumar</c:v>
                </c:pt>
                <c:pt idx="1">
                  <c:v>Shivakumar</c:v>
                </c:pt>
                <c:pt idx="2">
                  <c:v>Ramu</c:v>
                </c:pt>
                <c:pt idx="3">
                  <c:v>Naveen</c:v>
                </c:pt>
                <c:pt idx="4">
                  <c:v>Suresh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6.2</c:v>
                </c:pt>
              </c:numCache>
            </c:numRef>
          </c:val>
        </c:ser>
        <c:firstSliceAng val="0"/>
      </c:pieChart>
    </c:plotArea>
    <c:legend>
      <c:legendPos val="r"/>
      <c:layout/>
    </c:legend>
    <c:plotVisOnly val="1"/>
  </c:chart>
  <c:txPr>
    <a:bodyPr/>
    <a:lstStyle/>
    <a:p>
      <a:pPr>
        <a:defRPr sz="800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IN"/>
  <c:chart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OnliPayments</c:v>
                </c:pt>
                <c:pt idx="2">
                  <c:v>Card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OnliPayments</c:v>
                </c:pt>
                <c:pt idx="2">
                  <c:v>Card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OnliPayments</c:v>
                </c:pt>
                <c:pt idx="2">
                  <c:v>Card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marker val="1"/>
        <c:axId val="77247616"/>
        <c:axId val="77249152"/>
      </c:lineChart>
      <c:catAx>
        <c:axId val="77247616"/>
        <c:scaling>
          <c:orientation val="minMax"/>
        </c:scaling>
        <c:axPos val="b"/>
        <c:tickLblPos val="nextTo"/>
        <c:crossAx val="77249152"/>
        <c:crosses val="autoZero"/>
        <c:auto val="1"/>
        <c:lblAlgn val="ctr"/>
        <c:lblOffset val="100"/>
      </c:catAx>
      <c:valAx>
        <c:axId val="77249152"/>
        <c:scaling>
          <c:orientation val="minMax"/>
        </c:scaling>
        <c:axPos val="l"/>
        <c:majorGridlines/>
        <c:numFmt formatCode="General" sourceLinked="1"/>
        <c:tickLblPos val="nextTo"/>
        <c:crossAx val="77247616"/>
        <c:crosses val="autoZero"/>
        <c:crossBetween val="between"/>
      </c:valAx>
    </c:plotArea>
    <c:plotVisOnly val="1"/>
  </c:chart>
  <c:txPr>
    <a:bodyPr/>
    <a:lstStyle/>
    <a:p>
      <a:pPr>
        <a:defRPr sz="800"/>
      </a:pPr>
      <a:endParaRPr lang="en-US"/>
    </a:p>
  </c:tx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13C20-17C1-4E75-9867-877D9B5D209C}" type="datetimeFigureOut">
              <a:rPr lang="en-US" smtClean="0"/>
              <a:pPr/>
              <a:t>10/30/2025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877160-3886-4003-A5A7-5DA72FE711C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77160-3886-4003-A5A7-5DA72FE711CC}" type="slidenum">
              <a:rPr lang="en-IN" smtClean="0"/>
              <a:pPr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77160-3886-4003-A5A7-5DA72FE711CC}" type="slidenum">
              <a:rPr lang="en-IN" smtClean="0"/>
              <a:pPr/>
              <a:t>6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77160-3886-4003-A5A7-5DA72FE711CC}" type="slidenum">
              <a:rPr lang="en-IN" smtClean="0"/>
              <a:pPr/>
              <a:t>10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77160-3886-4003-A5A7-5DA72FE711CC}" type="slidenum">
              <a:rPr lang="en-IN" smtClean="0"/>
              <a:pPr/>
              <a:t>22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11" Type="http://schemas.openxmlformats.org/officeDocument/2006/relationships/chart" Target="../charts/chart2.xml"/><Relationship Id="rId5" Type="http://schemas.openxmlformats.org/officeDocument/2006/relationships/image" Target="../media/image3.jpe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1752600" y="1295400"/>
            <a:ext cx="7391400" cy="5562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>
                <a:solidFill>
                  <a:schemeClr val="tx1"/>
                </a:solidFill>
              </a:rPr>
              <a:t>OP Dash Board</a:t>
            </a:r>
            <a:endParaRPr lang="en-IN" sz="1600" b="1" dirty="0">
              <a:solidFill>
                <a:schemeClr val="tx1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752600" y="911423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2514600" y="911423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3429000" y="911423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4343400" y="911423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5638800" y="911423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0" y="1295400"/>
            <a:ext cx="1637436" cy="300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400" dirty="0" smtClean="0"/>
              <a:t> Transactions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400" dirty="0" smtClean="0"/>
              <a:t> OP Financials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400" dirty="0" smtClean="0"/>
              <a:t> Master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400" dirty="0" smtClean="0"/>
              <a:t> Insurance Master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400" dirty="0" smtClean="0"/>
              <a:t> OP Tariff Master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400" dirty="0" smtClean="0"/>
              <a:t>  Appointments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400" dirty="0" smtClean="0"/>
              <a:t> Expenses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400" dirty="0" smtClean="0"/>
              <a:t> Enquires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400" dirty="0" smtClean="0"/>
              <a:t> OP Dash 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209800"/>
            <a:ext cx="1066800" cy="990600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1905000" y="25908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 smtClean="0"/>
              <a:t>2,000</a:t>
            </a:r>
            <a:endParaRPr lang="en-IN" sz="1600" b="1" dirty="0"/>
          </a:p>
        </p:txBody>
      </p:sp>
      <p:sp>
        <p:nvSpPr>
          <p:cNvPr id="35" name="Rectangle 34"/>
          <p:cNvSpPr/>
          <p:nvPr/>
        </p:nvSpPr>
        <p:spPr>
          <a:xfrm>
            <a:off x="1828800" y="3810000"/>
            <a:ext cx="2286000" cy="1371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/>
          <p:cNvSpPr/>
          <p:nvPr/>
        </p:nvSpPr>
        <p:spPr>
          <a:xfrm>
            <a:off x="6705600" y="3810000"/>
            <a:ext cx="228600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2" name="TextBox 41"/>
          <p:cNvSpPr txBox="1"/>
          <p:nvPr/>
        </p:nvSpPr>
        <p:spPr>
          <a:xfrm>
            <a:off x="1828800" y="3810000"/>
            <a:ext cx="2209800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Dr.Anil Kumar		10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Dr.Ramu		03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Dr.Suresh		04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Dr.Naveen		15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Dr Shiva Kumar		08</a:t>
            </a:r>
            <a:endParaRPr lang="en-IN" sz="1050" dirty="0"/>
          </a:p>
        </p:txBody>
      </p:sp>
      <p:sp>
        <p:nvSpPr>
          <p:cNvPr id="54" name="Rectangle 53"/>
          <p:cNvSpPr/>
          <p:nvPr/>
        </p:nvSpPr>
        <p:spPr>
          <a:xfrm>
            <a:off x="4267200" y="3810000"/>
            <a:ext cx="228600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0" name="Picture 59" descr="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86000"/>
            <a:ext cx="309562" cy="309562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1905000" y="2895600"/>
            <a:ext cx="914400" cy="2286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b="1" dirty="0" smtClean="0">
                <a:solidFill>
                  <a:schemeClr val="tx1"/>
                </a:solidFill>
              </a:rPr>
              <a:t>New OP - 10</a:t>
            </a:r>
            <a:endParaRPr lang="en-IN" sz="800" b="1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048000" y="2209800"/>
            <a:ext cx="1066800" cy="990600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3" name="TextBox 62"/>
          <p:cNvSpPr txBox="1"/>
          <p:nvPr/>
        </p:nvSpPr>
        <p:spPr>
          <a:xfrm>
            <a:off x="3124200" y="25908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 smtClean="0"/>
              <a:t>2,000</a:t>
            </a:r>
            <a:endParaRPr lang="en-IN" sz="1600" b="1" dirty="0"/>
          </a:p>
        </p:txBody>
      </p:sp>
      <p:sp>
        <p:nvSpPr>
          <p:cNvPr id="65" name="Rounded Rectangle 64"/>
          <p:cNvSpPr/>
          <p:nvPr/>
        </p:nvSpPr>
        <p:spPr>
          <a:xfrm>
            <a:off x="3124200" y="2895600"/>
            <a:ext cx="914400" cy="2286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b="1" dirty="0" smtClean="0">
                <a:solidFill>
                  <a:schemeClr val="tx1"/>
                </a:solidFill>
              </a:rPr>
              <a:t>Review OP - 10</a:t>
            </a:r>
            <a:endParaRPr lang="en-IN" sz="800" b="1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267200" y="2209800"/>
            <a:ext cx="1143000" cy="990600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7" name="TextBox 66"/>
          <p:cNvSpPr txBox="1"/>
          <p:nvPr/>
        </p:nvSpPr>
        <p:spPr>
          <a:xfrm>
            <a:off x="4343400" y="25908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 smtClean="0"/>
              <a:t>2,000</a:t>
            </a:r>
            <a:endParaRPr lang="en-IN" sz="1600" b="1" dirty="0"/>
          </a:p>
        </p:txBody>
      </p:sp>
      <p:sp>
        <p:nvSpPr>
          <p:cNvPr id="69" name="Rounded Rectangle 68"/>
          <p:cNvSpPr/>
          <p:nvPr/>
        </p:nvSpPr>
        <p:spPr>
          <a:xfrm>
            <a:off x="4343400" y="2895600"/>
            <a:ext cx="990600" cy="2286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Procedure - 10</a:t>
            </a:r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562600" y="2209800"/>
            <a:ext cx="1066800" cy="990600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1" name="TextBox 70"/>
          <p:cNvSpPr txBox="1"/>
          <p:nvPr/>
        </p:nvSpPr>
        <p:spPr>
          <a:xfrm>
            <a:off x="5638800" y="25908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 smtClean="0"/>
              <a:t>2,000</a:t>
            </a:r>
            <a:endParaRPr lang="en-IN" sz="1600" b="1" dirty="0"/>
          </a:p>
        </p:txBody>
      </p:sp>
      <p:sp>
        <p:nvSpPr>
          <p:cNvPr id="73" name="Rounded Rectangle 72"/>
          <p:cNvSpPr/>
          <p:nvPr/>
        </p:nvSpPr>
        <p:spPr>
          <a:xfrm>
            <a:off x="5638800" y="2895600"/>
            <a:ext cx="914400" cy="2286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b="1" dirty="0" smtClean="0">
                <a:solidFill>
                  <a:schemeClr val="tx1"/>
                </a:solidFill>
              </a:rPr>
              <a:t>Refunds OP - 10</a:t>
            </a:r>
            <a:endParaRPr lang="en-IN" sz="800" b="1" dirty="0">
              <a:solidFill>
                <a:schemeClr val="tx1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705600" y="2209800"/>
            <a:ext cx="1143000" cy="990600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5" name="TextBox 74"/>
          <p:cNvSpPr txBox="1"/>
          <p:nvPr/>
        </p:nvSpPr>
        <p:spPr>
          <a:xfrm>
            <a:off x="6781800" y="25908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 smtClean="0"/>
              <a:t>2,000</a:t>
            </a:r>
            <a:endParaRPr lang="en-IN" sz="1600" b="1" dirty="0"/>
          </a:p>
        </p:txBody>
      </p:sp>
      <p:sp>
        <p:nvSpPr>
          <p:cNvPr id="77" name="Rounded Rectangle 76"/>
          <p:cNvSpPr/>
          <p:nvPr/>
        </p:nvSpPr>
        <p:spPr>
          <a:xfrm>
            <a:off x="6781800" y="2895600"/>
            <a:ext cx="990600" cy="2286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b="1" dirty="0" smtClean="0">
                <a:solidFill>
                  <a:schemeClr val="tx1"/>
                </a:solidFill>
              </a:rPr>
              <a:t>Cancellations - 10</a:t>
            </a:r>
            <a:endParaRPr lang="en-IN" sz="800" b="1" dirty="0">
              <a:solidFill>
                <a:schemeClr val="tx1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924800" y="2209800"/>
            <a:ext cx="1066800" cy="990600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9" name="TextBox 78"/>
          <p:cNvSpPr txBox="1"/>
          <p:nvPr/>
        </p:nvSpPr>
        <p:spPr>
          <a:xfrm>
            <a:off x="8001000" y="25908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 smtClean="0"/>
              <a:t>2,000</a:t>
            </a:r>
            <a:endParaRPr lang="en-IN" sz="1600" b="1" dirty="0"/>
          </a:p>
        </p:txBody>
      </p:sp>
      <p:sp>
        <p:nvSpPr>
          <p:cNvPr id="81" name="Rounded Rectangle 80"/>
          <p:cNvSpPr/>
          <p:nvPr/>
        </p:nvSpPr>
        <p:spPr>
          <a:xfrm>
            <a:off x="8001000" y="2895600"/>
            <a:ext cx="914400" cy="22860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b="1" dirty="0" smtClean="0">
                <a:solidFill>
                  <a:schemeClr val="tx1"/>
                </a:solidFill>
              </a:rPr>
              <a:t>Total Amount</a:t>
            </a:r>
            <a:endParaRPr lang="en-IN" sz="900" b="1" dirty="0">
              <a:solidFill>
                <a:schemeClr val="tx1"/>
              </a:solidFill>
            </a:endParaRPr>
          </a:p>
        </p:txBody>
      </p:sp>
      <p:pic>
        <p:nvPicPr>
          <p:cNvPr id="83" name="Picture 82" descr="images 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286000"/>
            <a:ext cx="322208" cy="342900"/>
          </a:xfrm>
          <a:prstGeom prst="rect">
            <a:avLst/>
          </a:prstGeom>
        </p:spPr>
      </p:pic>
      <p:pic>
        <p:nvPicPr>
          <p:cNvPr id="84" name="Picture 83" descr="apple-logo-patient-health-care-hospital-physician-inpatient-care-clinic-home-care-service-png-clipart.jpg"/>
          <p:cNvPicPr>
            <a:picLocks noChangeAspect="1"/>
          </p:cNvPicPr>
          <p:nvPr/>
        </p:nvPicPr>
        <p:blipFill>
          <a:blip r:embed="rId5" cstate="print"/>
          <a:srcRect l="14444" t="13333" r="15556" b="14444"/>
          <a:stretch>
            <a:fillRect/>
          </a:stretch>
        </p:blipFill>
        <p:spPr>
          <a:xfrm>
            <a:off x="4648200" y="2286000"/>
            <a:ext cx="295421" cy="304800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3352800" y="1371600"/>
            <a:ext cx="3962400" cy="304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OP Dash Board</a:t>
            </a:r>
            <a:endParaRPr lang="en-IN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2057400" y="3505200"/>
            <a:ext cx="1752600" cy="2286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 smtClean="0">
                <a:solidFill>
                  <a:schemeClr val="tx2"/>
                </a:solidFill>
              </a:rPr>
              <a:t>Consultant Doctors  (5)</a:t>
            </a:r>
          </a:p>
        </p:txBody>
      </p:sp>
      <p:pic>
        <p:nvPicPr>
          <p:cNvPr id="88" name="Picture 87" descr="refund-money-icon-vector-20470852.jpg"/>
          <p:cNvPicPr>
            <a:picLocks noChangeAspect="1"/>
          </p:cNvPicPr>
          <p:nvPr/>
        </p:nvPicPr>
        <p:blipFill>
          <a:blip r:embed="rId6" cstate="print"/>
          <a:srcRect l="17347" t="12131" r="15306" b="22676"/>
          <a:stretch>
            <a:fillRect/>
          </a:stretch>
        </p:blipFill>
        <p:spPr>
          <a:xfrm>
            <a:off x="5943600" y="2286000"/>
            <a:ext cx="304800" cy="318655"/>
          </a:xfrm>
          <a:prstGeom prst="rect">
            <a:avLst/>
          </a:prstGeom>
        </p:spPr>
      </p:pic>
      <p:pic>
        <p:nvPicPr>
          <p:cNvPr id="89" name="Picture 88" descr="images (2)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2286000"/>
            <a:ext cx="309562" cy="309562"/>
          </a:xfrm>
          <a:prstGeom prst="rect">
            <a:avLst/>
          </a:prstGeom>
        </p:spPr>
      </p:pic>
      <p:pic>
        <p:nvPicPr>
          <p:cNvPr id="90" name="Picture 89" descr="png-transparent-cost-computer-icons-3c-products-text-people-orange.png"/>
          <p:cNvPicPr>
            <a:picLocks noChangeAspect="1"/>
          </p:cNvPicPr>
          <p:nvPr/>
        </p:nvPicPr>
        <p:blipFill>
          <a:blip r:embed="rId8" cstate="print">
            <a:lum bright="20000"/>
          </a:blip>
          <a:srcRect l="16852" r="24166"/>
          <a:stretch>
            <a:fillRect/>
          </a:stretch>
        </p:blipFill>
        <p:spPr>
          <a:xfrm>
            <a:off x="8229600" y="2228170"/>
            <a:ext cx="381000" cy="438830"/>
          </a:xfrm>
          <a:prstGeom prst="rect">
            <a:avLst/>
          </a:prstGeom>
        </p:spPr>
      </p:pic>
      <p:sp>
        <p:nvSpPr>
          <p:cNvPr id="91" name="Rounded Rectangle 90"/>
          <p:cNvSpPr/>
          <p:nvPr/>
        </p:nvSpPr>
        <p:spPr>
          <a:xfrm>
            <a:off x="4495800" y="3505200"/>
            <a:ext cx="1752600" cy="2286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 smtClean="0">
                <a:solidFill>
                  <a:srgbClr val="FF0000"/>
                </a:solidFill>
              </a:rPr>
              <a:t>Referrals Wise Collection  (6)</a:t>
            </a:r>
            <a:endParaRPr lang="en-IN" sz="1000" b="1" dirty="0">
              <a:solidFill>
                <a:srgbClr val="FF0000"/>
              </a:solidFill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858000" y="3505200"/>
            <a:ext cx="1752600" cy="2286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 smtClean="0">
                <a:solidFill>
                  <a:srgbClr val="7030A0"/>
                </a:solidFill>
              </a:rPr>
              <a:t>Pay Mode Wise Collections</a:t>
            </a:r>
            <a:endParaRPr lang="en-IN" sz="1000" b="1" dirty="0">
              <a:solidFill>
                <a:srgbClr val="7030A0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828800" y="3886200"/>
            <a:ext cx="22098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1200" dirty="0" smtClean="0">
                <a:solidFill>
                  <a:schemeClr val="tx1"/>
                </a:solidFill>
              </a:rPr>
              <a:t>Dr.Anil Kumar		10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28800" y="4343400"/>
            <a:ext cx="22098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 smtClean="0">
                <a:solidFill>
                  <a:schemeClr val="tx1"/>
                </a:solidFill>
              </a:rPr>
              <a:t>Dr.Suresh		04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1828800" y="4876800"/>
            <a:ext cx="22098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1100" dirty="0" smtClean="0">
                <a:solidFill>
                  <a:schemeClr val="tx1"/>
                </a:solidFill>
              </a:rPr>
              <a:t>Dr Shiva Kumar		08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267200" y="3810000"/>
            <a:ext cx="2209800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Dr.Anil Kumar		10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Dr.Ramu		03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Dr.Suresh		04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Dr.Naveen		15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Dr Shiva Kumar		08</a:t>
            </a:r>
            <a:endParaRPr lang="en-IN" sz="1050" dirty="0"/>
          </a:p>
        </p:txBody>
      </p:sp>
      <p:sp>
        <p:nvSpPr>
          <p:cNvPr id="102" name="Rectangle 101"/>
          <p:cNvSpPr/>
          <p:nvPr/>
        </p:nvSpPr>
        <p:spPr>
          <a:xfrm>
            <a:off x="4267200" y="3886200"/>
            <a:ext cx="22098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1200" dirty="0" smtClean="0">
                <a:solidFill>
                  <a:schemeClr val="tx1"/>
                </a:solidFill>
              </a:rPr>
              <a:t>Dr.Anil Kumar		10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267200" y="4343400"/>
            <a:ext cx="22098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 smtClean="0">
                <a:solidFill>
                  <a:schemeClr val="tx1"/>
                </a:solidFill>
              </a:rPr>
              <a:t>Dr.Suresh		04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4267200" y="4876800"/>
            <a:ext cx="22098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1100" dirty="0" smtClean="0">
                <a:solidFill>
                  <a:schemeClr val="tx1"/>
                </a:solidFill>
              </a:rPr>
              <a:t>Dr Shiva Kumar		08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6705600" y="3810000"/>
            <a:ext cx="2209800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Dr.Anil Kumar		10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Online Payment		03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Dr.Suresh		0		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Dr Shiva Kumar		08</a:t>
            </a:r>
            <a:endParaRPr lang="en-IN" sz="1050" dirty="0"/>
          </a:p>
        </p:txBody>
      </p:sp>
      <p:sp>
        <p:nvSpPr>
          <p:cNvPr id="106" name="Rectangle 105"/>
          <p:cNvSpPr/>
          <p:nvPr/>
        </p:nvSpPr>
        <p:spPr>
          <a:xfrm>
            <a:off x="6705600" y="3886200"/>
            <a:ext cx="22098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1200" dirty="0" smtClean="0">
                <a:solidFill>
                  <a:schemeClr val="tx1"/>
                </a:solidFill>
              </a:rPr>
              <a:t>Cash		10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705600" y="4343400"/>
            <a:ext cx="22098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 smtClean="0">
                <a:solidFill>
                  <a:schemeClr val="tx1"/>
                </a:solidFill>
              </a:rPr>
              <a:t>Card payment		04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6705600" y="4876800"/>
            <a:ext cx="22098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1828800" y="5334000"/>
            <a:ext cx="2286000" cy="1371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0" name="Rectangle 109"/>
          <p:cNvSpPr/>
          <p:nvPr/>
        </p:nvSpPr>
        <p:spPr>
          <a:xfrm>
            <a:off x="4267200" y="5334000"/>
            <a:ext cx="2286000" cy="1371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1" name="Rectangle 110"/>
          <p:cNvSpPr/>
          <p:nvPr/>
        </p:nvSpPr>
        <p:spPr>
          <a:xfrm>
            <a:off x="6705600" y="5334000"/>
            <a:ext cx="2286000" cy="1371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/>
          </a:p>
        </p:txBody>
      </p:sp>
      <p:sp>
        <p:nvSpPr>
          <p:cNvPr id="112" name="Rounded Rectangle 111"/>
          <p:cNvSpPr/>
          <p:nvPr/>
        </p:nvSpPr>
        <p:spPr>
          <a:xfrm>
            <a:off x="1828800" y="1828800"/>
            <a:ext cx="7315200" cy="30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From Date  : 01/04/2024  	 To Date :    02/04/2024   Search </a:t>
            </a:r>
            <a:endParaRPr lang="en-IN" sz="1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3" name="Chart 112"/>
          <p:cNvGraphicFramePr/>
          <p:nvPr/>
        </p:nvGraphicFramePr>
        <p:xfrm>
          <a:off x="4267200" y="5105400"/>
          <a:ext cx="2209800" cy="157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115" name="Picture 114" descr="lovepik-data-graph-png-image_401707380_wh1200.png"/>
          <p:cNvPicPr>
            <a:picLocks noChangeAspect="1"/>
          </p:cNvPicPr>
          <p:nvPr/>
        </p:nvPicPr>
        <p:blipFill>
          <a:blip r:embed="rId10" cstate="print">
            <a:lum bright="10000"/>
          </a:blip>
          <a:srcRect l="6897" t="17241" r="5172" b="18966"/>
          <a:stretch>
            <a:fillRect/>
          </a:stretch>
        </p:blipFill>
        <p:spPr>
          <a:xfrm>
            <a:off x="1828800" y="5410200"/>
            <a:ext cx="2209800" cy="10503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7" name="TextBox 116"/>
          <p:cNvSpPr txBox="1"/>
          <p:nvPr/>
        </p:nvSpPr>
        <p:spPr>
          <a:xfrm>
            <a:off x="2057400" y="6477000"/>
            <a:ext cx="18646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dirty="0" smtClean="0"/>
              <a:t>OP Day Wise Analyse (Last 10daays)</a:t>
            </a:r>
            <a:endParaRPr lang="en-IN" sz="900" dirty="0"/>
          </a:p>
        </p:txBody>
      </p:sp>
      <p:sp>
        <p:nvSpPr>
          <p:cNvPr id="118" name="TextBox 117"/>
          <p:cNvSpPr txBox="1"/>
          <p:nvPr/>
        </p:nvSpPr>
        <p:spPr>
          <a:xfrm>
            <a:off x="5257800" y="6477000"/>
            <a:ext cx="12859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 smtClean="0"/>
              <a:t>Referral Wise Collection %</a:t>
            </a:r>
            <a:endParaRPr lang="en-IN" sz="800" dirty="0"/>
          </a:p>
        </p:txBody>
      </p:sp>
      <p:graphicFrame>
        <p:nvGraphicFramePr>
          <p:cNvPr id="120" name="Chart 119"/>
          <p:cNvGraphicFramePr/>
          <p:nvPr/>
        </p:nvGraphicFramePr>
        <p:xfrm>
          <a:off x="6705600" y="5410200"/>
          <a:ext cx="2286000" cy="144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/>
          <p:cNvSpPr/>
          <p:nvPr/>
        </p:nvSpPr>
        <p:spPr>
          <a:xfrm>
            <a:off x="0" y="1219200"/>
            <a:ext cx="1371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8" name="Rectangle 117"/>
          <p:cNvSpPr/>
          <p:nvPr/>
        </p:nvSpPr>
        <p:spPr>
          <a:xfrm>
            <a:off x="1447800" y="1219200"/>
            <a:ext cx="60198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000" b="1" dirty="0" smtClean="0">
                <a:solidFill>
                  <a:schemeClr val="tx1"/>
                </a:solidFill>
              </a:rPr>
              <a:t>Reg Date : 15/02/2024 14;13 pm</a:t>
            </a:r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0" y="914400"/>
            <a:ext cx="9144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rot="16200000" flipH="1">
            <a:off x="-1981201" y="34290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5400000">
            <a:off x="4495800" y="3961606"/>
            <a:ext cx="594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47800" y="533400"/>
            <a:ext cx="685800" cy="27699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solidFill>
                  <a:schemeClr val="tx1"/>
                </a:solidFill>
              </a:rPr>
              <a:t>OP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9800" y="533400"/>
            <a:ext cx="609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IP</a:t>
            </a:r>
            <a:endParaRPr lang="en-IN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2895600" y="545068"/>
            <a:ext cx="609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LAB</a:t>
            </a:r>
            <a:endParaRPr lang="en-IN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3581400" y="561201"/>
            <a:ext cx="990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Pharmacy</a:t>
            </a:r>
            <a:endParaRPr lang="en-IN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648200" y="561201"/>
            <a:ext cx="10668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Doctor Desk</a:t>
            </a:r>
            <a:endParaRPr lang="en-IN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-76200" y="898267"/>
            <a:ext cx="1298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 Transactions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-11254" y="1169075"/>
            <a:ext cx="1176925" cy="1304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Consultation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Procedures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Due Collections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Cancellations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Refunds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203067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478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22" name="TextBox 21"/>
          <p:cNvSpPr txBox="1"/>
          <p:nvPr/>
        </p:nvSpPr>
        <p:spPr>
          <a:xfrm>
            <a:off x="19812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23" name="TextBox 22"/>
          <p:cNvSpPr txBox="1"/>
          <p:nvPr/>
        </p:nvSpPr>
        <p:spPr>
          <a:xfrm>
            <a:off x="25146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24" name="TextBox 23"/>
          <p:cNvSpPr txBox="1"/>
          <p:nvPr/>
        </p:nvSpPr>
        <p:spPr>
          <a:xfrm>
            <a:off x="3048000" y="95684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25" name="TextBox 24"/>
          <p:cNvSpPr txBox="1"/>
          <p:nvPr/>
        </p:nvSpPr>
        <p:spPr>
          <a:xfrm>
            <a:off x="3810000" y="974467"/>
            <a:ext cx="685800" cy="21544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PrintBill</a:t>
            </a:r>
            <a:endParaRPr lang="en-IN" sz="800" dirty="0"/>
          </a:p>
        </p:txBody>
      </p:sp>
      <p:sp>
        <p:nvSpPr>
          <p:cNvPr id="26" name="TextBox 25"/>
          <p:cNvSpPr txBox="1"/>
          <p:nvPr/>
        </p:nvSpPr>
        <p:spPr>
          <a:xfrm>
            <a:off x="4572000" y="974467"/>
            <a:ext cx="12954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Print Prescription</a:t>
            </a:r>
            <a:endParaRPr lang="en-IN" sz="800" dirty="0"/>
          </a:p>
        </p:txBody>
      </p:sp>
      <p:sp>
        <p:nvSpPr>
          <p:cNvPr id="27" name="TextBox 26"/>
          <p:cNvSpPr txBox="1"/>
          <p:nvPr/>
        </p:nvSpPr>
        <p:spPr>
          <a:xfrm>
            <a:off x="5943600" y="974467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PrintLabel</a:t>
            </a:r>
            <a:endParaRPr lang="en-IN" sz="800" dirty="0"/>
          </a:p>
        </p:txBody>
      </p:sp>
      <p:sp>
        <p:nvSpPr>
          <p:cNvPr id="34" name="TextBox 33"/>
          <p:cNvSpPr txBox="1"/>
          <p:nvPr/>
        </p:nvSpPr>
        <p:spPr>
          <a:xfrm>
            <a:off x="1371601" y="1460101"/>
            <a:ext cx="11430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100" dirty="0" smtClean="0"/>
              <a:t>Mobile No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Patient Name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Patient Age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Relation Name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Relation Age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Marital Status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Address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Complainants 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Pat Category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Note on Pres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62200" y="15240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/>
          <p:cNvSpPr/>
          <p:nvPr/>
        </p:nvSpPr>
        <p:spPr>
          <a:xfrm>
            <a:off x="3048000" y="17526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Patient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362200" y="17526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648200" y="17526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Sur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362200" y="1981200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Age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648200" y="19812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Male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362200" y="2971800"/>
            <a:ext cx="3276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Address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038600" y="1955884"/>
            <a:ext cx="5982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Gender</a:t>
            </a:r>
            <a:endParaRPr lang="en-IN" sz="1050" b="1" dirty="0"/>
          </a:p>
        </p:txBody>
      </p:sp>
      <p:sp>
        <p:nvSpPr>
          <p:cNvPr id="48" name="Rectangle 47"/>
          <p:cNvSpPr/>
          <p:nvPr/>
        </p:nvSpPr>
        <p:spPr>
          <a:xfrm>
            <a:off x="3276600" y="1981200"/>
            <a:ext cx="762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Years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048000" y="22098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Relation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362200" y="22098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S/o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362200" y="2743200"/>
            <a:ext cx="1676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Married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71600" y="4390318"/>
            <a:ext cx="1000595" cy="1304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Referral Type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Referral Name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Consult Doctor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Department 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Specialization</a:t>
            </a:r>
            <a:endParaRPr lang="en-IN" sz="1050" dirty="0"/>
          </a:p>
        </p:txBody>
      </p:sp>
      <p:sp>
        <p:nvSpPr>
          <p:cNvPr id="57" name="Rectangle 56"/>
          <p:cNvSpPr/>
          <p:nvPr/>
        </p:nvSpPr>
        <p:spPr>
          <a:xfrm>
            <a:off x="2514600" y="4475321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Self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514600" y="4703921"/>
            <a:ext cx="1981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514600" y="4932521"/>
            <a:ext cx="1981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514600" y="5161121"/>
            <a:ext cx="1981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514600" y="5465921"/>
            <a:ext cx="1981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648200" y="4703921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Add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648200" y="4932521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Add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648200" y="5161121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Add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4648200" y="5465921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Add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736926" y="5618321"/>
            <a:ext cx="6158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 smtClean="0"/>
              <a:t>General</a:t>
            </a:r>
            <a:endParaRPr lang="en-IN" sz="1050" dirty="0"/>
          </a:p>
        </p:txBody>
      </p:sp>
      <p:sp>
        <p:nvSpPr>
          <p:cNvPr id="69" name="TextBox 68"/>
          <p:cNvSpPr txBox="1"/>
          <p:nvPr/>
        </p:nvSpPr>
        <p:spPr>
          <a:xfrm>
            <a:off x="3810000" y="5609518"/>
            <a:ext cx="7922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 smtClean="0"/>
              <a:t>Emergency</a:t>
            </a:r>
            <a:endParaRPr lang="en-IN" sz="1050" dirty="0"/>
          </a:p>
        </p:txBody>
      </p:sp>
      <p:sp>
        <p:nvSpPr>
          <p:cNvPr id="71" name="Rectangle 70"/>
          <p:cNvSpPr/>
          <p:nvPr/>
        </p:nvSpPr>
        <p:spPr>
          <a:xfrm>
            <a:off x="4267200" y="4475321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Referral ID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712791" y="4348237"/>
            <a:ext cx="688009" cy="8194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Total Fee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Disc Amt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Disc 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77000" y="4466518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477000" y="4695118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6477000" y="4923718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712791" y="5034037"/>
            <a:ext cx="679994" cy="794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Net Amt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Paid Amt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Due Amt</a:t>
            </a:r>
            <a:endParaRPr lang="en-IN" sz="1050" dirty="0"/>
          </a:p>
        </p:txBody>
      </p:sp>
      <p:sp>
        <p:nvSpPr>
          <p:cNvPr id="80" name="Rectangle 79"/>
          <p:cNvSpPr/>
          <p:nvPr/>
        </p:nvSpPr>
        <p:spPr>
          <a:xfrm>
            <a:off x="6477000" y="5131080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6477000" y="5359680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6477000" y="5609518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733800" y="6019800"/>
            <a:ext cx="574196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Disc By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419600" y="6096000"/>
            <a:ext cx="1371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Authorization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2362200" y="3505200"/>
            <a:ext cx="1219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733800" y="6319763"/>
            <a:ext cx="657552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Remarks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419600" y="6395963"/>
            <a:ext cx="2971800" cy="157237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Reasons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371600" y="5948437"/>
            <a:ext cx="732893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Pay Mode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514600" y="6100837"/>
            <a:ext cx="1143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Cash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1447800" y="4119637"/>
            <a:ext cx="60198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0" name="TextBox 99"/>
          <p:cNvSpPr txBox="1"/>
          <p:nvPr/>
        </p:nvSpPr>
        <p:spPr>
          <a:xfrm>
            <a:off x="3124200" y="4119637"/>
            <a:ext cx="11623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Patient Address</a:t>
            </a:r>
            <a:endParaRPr lang="en-IN" sz="1200" dirty="0"/>
          </a:p>
        </p:txBody>
      </p:sp>
      <p:sp>
        <p:nvSpPr>
          <p:cNvPr id="101" name="TextBox 100"/>
          <p:cNvSpPr txBox="1"/>
          <p:nvPr/>
        </p:nvSpPr>
        <p:spPr>
          <a:xfrm>
            <a:off x="4343400" y="4119637"/>
            <a:ext cx="1776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Patient Secondary Details</a:t>
            </a:r>
            <a:endParaRPr lang="en-IN" sz="1200" dirty="0"/>
          </a:p>
        </p:txBody>
      </p:sp>
      <p:cxnSp>
        <p:nvCxnSpPr>
          <p:cNvPr id="103" name="Straight Connector 102"/>
          <p:cNvCxnSpPr/>
          <p:nvPr/>
        </p:nvCxnSpPr>
        <p:spPr>
          <a:xfrm rot="5400000">
            <a:off x="3010297" y="4233540"/>
            <a:ext cx="228600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rot="5400000">
            <a:off x="4229497" y="4233540"/>
            <a:ext cx="228600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rot="5400000">
            <a:off x="5982097" y="4233540"/>
            <a:ext cx="228600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447800" y="4119637"/>
            <a:ext cx="1594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Patient Consult Details</a:t>
            </a:r>
            <a:endParaRPr lang="en-IN" sz="1200" dirty="0"/>
          </a:p>
        </p:txBody>
      </p:sp>
      <p:sp>
        <p:nvSpPr>
          <p:cNvPr id="112" name="Rectangle 111"/>
          <p:cNvSpPr/>
          <p:nvPr/>
        </p:nvSpPr>
        <p:spPr>
          <a:xfrm>
            <a:off x="2362200" y="3200400"/>
            <a:ext cx="3276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Chief Complaints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781800" y="974467"/>
            <a:ext cx="685800" cy="200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sz="700" dirty="0"/>
          </a:p>
        </p:txBody>
      </p:sp>
      <p:sp>
        <p:nvSpPr>
          <p:cNvPr id="116" name="TextBox 115"/>
          <p:cNvSpPr txBox="1"/>
          <p:nvPr/>
        </p:nvSpPr>
        <p:spPr>
          <a:xfrm>
            <a:off x="1388627" y="6253237"/>
            <a:ext cx="668773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UPI Type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514600" y="6405637"/>
            <a:ext cx="1143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Phone pay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5791200" y="3810000"/>
            <a:ext cx="1524000" cy="230832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900" dirty="0" smtClean="0">
                <a:solidFill>
                  <a:schemeClr val="tx1"/>
                </a:solidFill>
              </a:rPr>
              <a:t>Patient Record Upload</a:t>
            </a:r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21916" y="1170801"/>
            <a:ext cx="1245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OP Registration  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2514600" y="5694521"/>
            <a:ext cx="152400" cy="10151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3657600" y="5694521"/>
            <a:ext cx="152400" cy="10151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4056715" y="1447800"/>
            <a:ext cx="11352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 smtClean="0">
                <a:solidFill>
                  <a:srgbClr val="FF0000"/>
                </a:solidFill>
              </a:rPr>
              <a:t>OP Consultation</a:t>
            </a:r>
            <a:endParaRPr lang="en-IN" sz="1100" b="1" dirty="0">
              <a:solidFill>
                <a:srgbClr val="FF0000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5791200" y="561201"/>
            <a:ext cx="9144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ADMIN</a:t>
            </a:r>
            <a:endParaRPr lang="en-IN" sz="1200" dirty="0"/>
          </a:p>
        </p:txBody>
      </p:sp>
      <p:sp>
        <p:nvSpPr>
          <p:cNvPr id="129" name="TextBox 128"/>
          <p:cNvSpPr txBox="1"/>
          <p:nvPr/>
        </p:nvSpPr>
        <p:spPr>
          <a:xfrm>
            <a:off x="7543800" y="1219200"/>
            <a:ext cx="15240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OP Consultations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543800" y="3048000"/>
            <a:ext cx="15240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Appointments</a:t>
            </a:r>
          </a:p>
        </p:txBody>
      </p:sp>
      <p:cxnSp>
        <p:nvCxnSpPr>
          <p:cNvPr id="131" name="Straight Connector 130"/>
          <p:cNvCxnSpPr/>
          <p:nvPr/>
        </p:nvCxnSpPr>
        <p:spPr>
          <a:xfrm rot="5400000">
            <a:off x="4725194" y="4037806"/>
            <a:ext cx="5638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7543800" y="15240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Between Dates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7543800" y="16764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Search Type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7543800" y="1828800"/>
            <a:ext cx="914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Name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8534400" y="1828800"/>
            <a:ext cx="533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7543800" y="33528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Between Dates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7543800" y="35052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Search Type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7543800" y="3657600"/>
            <a:ext cx="914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Name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8534400" y="3657600"/>
            <a:ext cx="533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7543800" y="9906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143" name="TextBox 142"/>
          <p:cNvSpPr txBox="1"/>
          <p:nvPr/>
        </p:nvSpPr>
        <p:spPr>
          <a:xfrm>
            <a:off x="8382000" y="9906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cxnSp>
        <p:nvCxnSpPr>
          <p:cNvPr id="144" name="Straight Connector 143"/>
          <p:cNvCxnSpPr/>
          <p:nvPr/>
        </p:nvCxnSpPr>
        <p:spPr>
          <a:xfrm rot="16200000" flipH="1">
            <a:off x="-2057399" y="34290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ounded Rectangle 144"/>
          <p:cNvSpPr/>
          <p:nvPr/>
        </p:nvSpPr>
        <p:spPr>
          <a:xfrm>
            <a:off x="8077200" y="228600"/>
            <a:ext cx="609600" cy="38100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Logout</a:t>
            </a:r>
            <a:endParaRPr lang="en-IN" sz="105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7924800" y="609600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 smtClean="0">
                <a:solidFill>
                  <a:schemeClr val="accent1">
                    <a:lumMod val="50000"/>
                  </a:schemeClr>
                </a:solidFill>
              </a:rPr>
              <a:t>User Name</a:t>
            </a:r>
            <a:endParaRPr lang="en-IN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2971800" y="11668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Verdana" pitchFamily="34" charset="0"/>
                <a:ea typeface="Verdana" pitchFamily="34" charset="0"/>
              </a:rPr>
              <a:t>Hospital Management System</a:t>
            </a:r>
            <a:endParaRPr lang="en-IN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4648200" y="22098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Sur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2362200" y="2514600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Age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4648200" y="2463716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Male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038600" y="2413084"/>
            <a:ext cx="5982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Gender</a:t>
            </a:r>
            <a:endParaRPr lang="en-IN" sz="1050" b="1" dirty="0"/>
          </a:p>
        </p:txBody>
      </p:sp>
      <p:sp>
        <p:nvSpPr>
          <p:cNvPr id="123" name="Rectangle 122"/>
          <p:cNvSpPr/>
          <p:nvPr/>
        </p:nvSpPr>
        <p:spPr>
          <a:xfrm>
            <a:off x="3276600" y="2514600"/>
            <a:ext cx="762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Years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5638800" y="1425223"/>
            <a:ext cx="838200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UHID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OP No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Visit No 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Bill No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Token NO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Review No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324600" y="1551310"/>
            <a:ext cx="914400" cy="12509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2" name="Rectangle 151"/>
          <p:cNvSpPr/>
          <p:nvPr/>
        </p:nvSpPr>
        <p:spPr>
          <a:xfrm>
            <a:off x="6324600" y="1779910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3" name="Rectangle 152"/>
          <p:cNvSpPr/>
          <p:nvPr/>
        </p:nvSpPr>
        <p:spPr>
          <a:xfrm>
            <a:off x="6324600" y="2008510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4" name="Rectangle 153"/>
          <p:cNvSpPr/>
          <p:nvPr/>
        </p:nvSpPr>
        <p:spPr>
          <a:xfrm>
            <a:off x="6324600" y="2237110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5" name="Rectangle 154"/>
          <p:cNvSpPr/>
          <p:nvPr/>
        </p:nvSpPr>
        <p:spPr>
          <a:xfrm>
            <a:off x="6324600" y="2487052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6" name="Rectangle 155"/>
          <p:cNvSpPr/>
          <p:nvPr/>
        </p:nvSpPr>
        <p:spPr>
          <a:xfrm>
            <a:off x="6324600" y="2715652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8" name="Rectangle 157"/>
          <p:cNvSpPr/>
          <p:nvPr/>
        </p:nvSpPr>
        <p:spPr>
          <a:xfrm>
            <a:off x="6172200" y="2971800"/>
            <a:ext cx="10668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Photo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1447800" y="5872237"/>
            <a:ext cx="6019800" cy="76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8" name="Rectangle 127"/>
          <p:cNvSpPr/>
          <p:nvPr/>
        </p:nvSpPr>
        <p:spPr>
          <a:xfrm>
            <a:off x="4648200" y="27432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Date of birth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038600" y="2717884"/>
            <a:ext cx="4363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DOB</a:t>
            </a:r>
            <a:endParaRPr lang="en-IN" sz="1050" b="1" dirty="0"/>
          </a:p>
        </p:txBody>
      </p:sp>
      <p:sp>
        <p:nvSpPr>
          <p:cNvPr id="166" name="Rectangle 165"/>
          <p:cNvSpPr/>
          <p:nvPr/>
        </p:nvSpPr>
        <p:spPr>
          <a:xfrm>
            <a:off x="4572000" y="3505200"/>
            <a:ext cx="1066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3586577" y="3424163"/>
            <a:ext cx="909223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Sub Category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362200" y="3810000"/>
            <a:ext cx="3276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Note on Prescription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5791200" y="29718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c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5791200" y="34290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47800"/>
            <a:ext cx="1371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447800" y="1219200"/>
            <a:ext cx="60198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000" b="1" dirty="0" smtClean="0">
                <a:solidFill>
                  <a:schemeClr val="tx1"/>
                </a:solidFill>
              </a:rPr>
              <a:t>Bill Date : 15/02/2024 14;13 pm</a:t>
            </a:r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rot="16200000" flipH="1">
            <a:off x="-1981201" y="34290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>
            <a:off x="4495800" y="3961606"/>
            <a:ext cx="594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533400"/>
            <a:ext cx="685800" cy="27699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solidFill>
                  <a:schemeClr val="tx1"/>
                </a:solidFill>
              </a:rPr>
              <a:t>OP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09800" y="533400"/>
            <a:ext cx="609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IP</a:t>
            </a:r>
            <a:endParaRPr lang="en-IN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2895600" y="545068"/>
            <a:ext cx="609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LAB</a:t>
            </a:r>
            <a:endParaRPr lang="en-IN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3581400" y="561201"/>
            <a:ext cx="990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Pharmacy</a:t>
            </a:r>
            <a:endParaRPr lang="en-IN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4648200" y="561201"/>
            <a:ext cx="10668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Doctor Desk</a:t>
            </a:r>
            <a:endParaRPr lang="en-IN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-76200" y="898267"/>
            <a:ext cx="1298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 Transactions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1169075"/>
            <a:ext cx="1176925" cy="1304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Consultation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Procedures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Due Collections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Cancellations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Refund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1203067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478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16" name="TextBox 15"/>
          <p:cNvSpPr txBox="1"/>
          <p:nvPr/>
        </p:nvSpPr>
        <p:spPr>
          <a:xfrm>
            <a:off x="19812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25146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3048000" y="95684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0" y="990600"/>
            <a:ext cx="685800" cy="21544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PrintBill</a:t>
            </a:r>
            <a:endParaRPr lang="en-IN" sz="800" dirty="0"/>
          </a:p>
        </p:txBody>
      </p:sp>
      <p:sp>
        <p:nvSpPr>
          <p:cNvPr id="22" name="TextBox 21"/>
          <p:cNvSpPr txBox="1"/>
          <p:nvPr/>
        </p:nvSpPr>
        <p:spPr>
          <a:xfrm>
            <a:off x="1371600" y="1752600"/>
            <a:ext cx="8382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UHID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OP No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Bill No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Pro.No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05000" y="1878687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1905000" y="2107287"/>
            <a:ext cx="990600" cy="15240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1905000" y="2335887"/>
            <a:ext cx="990600" cy="15240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3200400" y="1477841"/>
            <a:ext cx="1061509" cy="1546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Mobile No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Patient Name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Patient Age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Address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Relation Name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Consult Doctor 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91000" y="16002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4876800" y="18288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Patient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191000" y="18288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77000" y="1828800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Sur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191000" y="2057400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Age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77000" y="2057400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Male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191000" y="2286000"/>
            <a:ext cx="3124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Address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67400" y="2032084"/>
            <a:ext cx="5982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Gender</a:t>
            </a:r>
            <a:endParaRPr lang="en-IN" sz="1050" b="1" dirty="0"/>
          </a:p>
        </p:txBody>
      </p:sp>
      <p:sp>
        <p:nvSpPr>
          <p:cNvPr id="36" name="Rectangle 35"/>
          <p:cNvSpPr/>
          <p:nvPr/>
        </p:nvSpPr>
        <p:spPr>
          <a:xfrm>
            <a:off x="5105400" y="2057400"/>
            <a:ext cx="762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Years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371600" y="4204908"/>
            <a:ext cx="688009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Total Fee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Disc Amt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Disc %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Post Disc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09800" y="4281108"/>
            <a:ext cx="1066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209800" y="4509708"/>
            <a:ext cx="1066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209800" y="4738308"/>
            <a:ext cx="1066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352800" y="4228244"/>
            <a:ext cx="679994" cy="794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Net Amt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Paid Amt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Due Amt</a:t>
            </a:r>
            <a:endParaRPr lang="en-IN" sz="1050" dirty="0"/>
          </a:p>
        </p:txBody>
      </p:sp>
      <p:sp>
        <p:nvSpPr>
          <p:cNvPr id="59" name="Rectangle 58"/>
          <p:cNvSpPr/>
          <p:nvPr/>
        </p:nvSpPr>
        <p:spPr>
          <a:xfrm>
            <a:off x="4114800" y="4283206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114800" y="4511806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114800" y="4761644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373809" y="5176763"/>
            <a:ext cx="574196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Disc By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09800" y="5252963"/>
            <a:ext cx="1066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Authorization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999225" y="4186163"/>
            <a:ext cx="1096775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Patient Category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72200" y="4262363"/>
            <a:ext cx="1143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Self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352800" y="5171926"/>
            <a:ext cx="657552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Remarks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0" y="5252963"/>
            <a:ext cx="2819400" cy="157237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Reasons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999225" y="4414763"/>
            <a:ext cx="732893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Pay Mode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4490963"/>
            <a:ext cx="1143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Cash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447800" y="3048000"/>
            <a:ext cx="6019800" cy="2286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8" name="Rectangle 77"/>
          <p:cNvSpPr/>
          <p:nvPr/>
        </p:nvSpPr>
        <p:spPr>
          <a:xfrm>
            <a:off x="4191000" y="2743200"/>
            <a:ext cx="3124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OP Consult Doctor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781800" y="974467"/>
            <a:ext cx="685800" cy="200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sz="700" dirty="0"/>
          </a:p>
        </p:txBody>
      </p:sp>
      <p:sp>
        <p:nvSpPr>
          <p:cNvPr id="81" name="TextBox 80"/>
          <p:cNvSpPr txBox="1"/>
          <p:nvPr/>
        </p:nvSpPr>
        <p:spPr>
          <a:xfrm>
            <a:off x="4999225" y="4643363"/>
            <a:ext cx="668773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UPI Type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72200" y="4719563"/>
            <a:ext cx="1143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Phone pay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421916" y="1170801"/>
            <a:ext cx="1192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OP Procedures  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791200" y="561201"/>
            <a:ext cx="9144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ADMIN</a:t>
            </a:r>
            <a:endParaRPr lang="en-IN" sz="1200" dirty="0"/>
          </a:p>
        </p:txBody>
      </p:sp>
      <p:sp>
        <p:nvSpPr>
          <p:cNvPr id="89" name="TextBox 88"/>
          <p:cNvSpPr txBox="1"/>
          <p:nvPr/>
        </p:nvSpPr>
        <p:spPr>
          <a:xfrm>
            <a:off x="7543800" y="1219200"/>
            <a:ext cx="15240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OP Procedures</a:t>
            </a:r>
          </a:p>
        </p:txBody>
      </p:sp>
      <p:cxnSp>
        <p:nvCxnSpPr>
          <p:cNvPr id="91" name="Straight Connector 90"/>
          <p:cNvCxnSpPr/>
          <p:nvPr/>
        </p:nvCxnSpPr>
        <p:spPr>
          <a:xfrm rot="5400000">
            <a:off x="4725194" y="4037806"/>
            <a:ext cx="5638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7543800" y="15240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Between Dates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7543800" y="16764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Search Type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7543800" y="1828800"/>
            <a:ext cx="914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Name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8534400" y="1828800"/>
            <a:ext cx="533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543800" y="9906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101" name="TextBox 100"/>
          <p:cNvSpPr txBox="1"/>
          <p:nvPr/>
        </p:nvSpPr>
        <p:spPr>
          <a:xfrm>
            <a:off x="8382000" y="9906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cxnSp>
        <p:nvCxnSpPr>
          <p:cNvPr id="102" name="Straight Connector 101"/>
          <p:cNvCxnSpPr/>
          <p:nvPr/>
        </p:nvCxnSpPr>
        <p:spPr>
          <a:xfrm rot="16200000" flipH="1">
            <a:off x="-2057399" y="34290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8077200" y="228600"/>
            <a:ext cx="609600" cy="38100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Logout</a:t>
            </a:r>
            <a:endParaRPr lang="en-IN" sz="105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7924800" y="609600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 smtClean="0">
                <a:solidFill>
                  <a:schemeClr val="accent1">
                    <a:lumMod val="50000"/>
                  </a:schemeClr>
                </a:solidFill>
              </a:rPr>
              <a:t>User Name</a:t>
            </a:r>
            <a:endParaRPr lang="en-IN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2971800" y="11668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Verdana" pitchFamily="34" charset="0"/>
                <a:ea typeface="Verdana" pitchFamily="34" charset="0"/>
              </a:rPr>
              <a:t>Hospital Management System</a:t>
            </a:r>
            <a:endParaRPr lang="en-IN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2971800" y="1900029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+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1447800" y="1600200"/>
            <a:ext cx="1752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Between Dates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905000" y="2966963"/>
            <a:ext cx="1091966" cy="3347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Procedure </a:t>
            </a:r>
            <a:r>
              <a:rPr lang="en-IN" sz="1000" dirty="0" smtClean="0"/>
              <a:t>Name</a:t>
            </a:r>
            <a:endParaRPr lang="en-IN" sz="1050" dirty="0" smtClean="0"/>
          </a:p>
        </p:txBody>
      </p:sp>
      <p:sp>
        <p:nvSpPr>
          <p:cNvPr id="113" name="Rectangle 112"/>
          <p:cNvSpPr/>
          <p:nvPr/>
        </p:nvSpPr>
        <p:spPr>
          <a:xfrm>
            <a:off x="1447800" y="2966963"/>
            <a:ext cx="437940" cy="309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S.No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48000" y="2966963"/>
            <a:ext cx="434734" cy="309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Rate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505200" y="2966963"/>
            <a:ext cx="670376" cy="309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Disc Amt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155872" y="2966963"/>
            <a:ext cx="535724" cy="309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Disc 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613072" y="2966963"/>
            <a:ext cx="644728" cy="309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NetAmt 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187406" y="2966963"/>
            <a:ext cx="679994" cy="309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PaidAmt 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886030" y="2966963"/>
            <a:ext cx="667170" cy="309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DueAmt 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553200" y="2966963"/>
            <a:ext cx="914033" cy="309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Doctor Name</a:t>
            </a:r>
          </a:p>
        </p:txBody>
      </p:sp>
      <p:cxnSp>
        <p:nvCxnSpPr>
          <p:cNvPr id="122" name="Straight Connector 121"/>
          <p:cNvCxnSpPr/>
          <p:nvPr/>
        </p:nvCxnSpPr>
        <p:spPr>
          <a:xfrm rot="5400000">
            <a:off x="1334294" y="3614663"/>
            <a:ext cx="114220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rot="5400000">
            <a:off x="2932906" y="3156669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 rot="5400000">
            <a:off x="3390106" y="3156669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 rot="5400000">
            <a:off x="4075905" y="3156669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/>
          <p:nvPr/>
        </p:nvCxnSpPr>
        <p:spPr>
          <a:xfrm rot="5400000">
            <a:off x="4534694" y="3156669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 rot="5400000">
            <a:off x="5066506" y="3156669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 rot="5400000">
            <a:off x="5752306" y="3156669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 rot="5400000">
            <a:off x="6438106" y="3156669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3306565" y="4943326"/>
            <a:ext cx="838691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 Cancel Amt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112591" y="5024363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1447800" y="3271763"/>
            <a:ext cx="60198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36" name="Straight Connector 135"/>
          <p:cNvCxnSpPr/>
          <p:nvPr/>
        </p:nvCxnSpPr>
        <p:spPr>
          <a:xfrm rot="5400000">
            <a:off x="1448594" y="3728963"/>
            <a:ext cx="91360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 rot="5400000">
            <a:off x="2590800" y="3728169"/>
            <a:ext cx="91360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 rot="5400000">
            <a:off x="3047999" y="3728169"/>
            <a:ext cx="91360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>
            <a:off x="3733799" y="3728169"/>
            <a:ext cx="91360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 rot="5400000">
            <a:off x="4191000" y="3728169"/>
            <a:ext cx="91360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rot="5400000">
            <a:off x="4724400" y="3728169"/>
            <a:ext cx="91360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 rot="5400000">
            <a:off x="5410994" y="3728169"/>
            <a:ext cx="91360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 rot="5400000">
            <a:off x="6096000" y="3728169"/>
            <a:ext cx="91360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>
            <a:off x="1447800" y="3500363"/>
            <a:ext cx="6019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>
            <a:off x="1447800" y="3803575"/>
            <a:ext cx="6019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2209800" y="5024363"/>
            <a:ext cx="1066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4876800" y="25146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Relation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4191000" y="25146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S/o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6477000" y="2514600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Married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1905000" y="2590800"/>
            <a:ext cx="990600" cy="15240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76400"/>
            <a:ext cx="1371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447800" y="1219200"/>
            <a:ext cx="60198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000" b="1" dirty="0" smtClean="0">
                <a:solidFill>
                  <a:schemeClr val="tx1"/>
                </a:solidFill>
              </a:rPr>
              <a:t>Bill Date : 15/02/2024 14;13 pm</a:t>
            </a:r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>
            <a:off x="4495800" y="3961606"/>
            <a:ext cx="594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533400"/>
            <a:ext cx="685800" cy="27699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solidFill>
                  <a:schemeClr val="tx1"/>
                </a:solidFill>
              </a:rPr>
              <a:t>OP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09800" y="533400"/>
            <a:ext cx="609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IP</a:t>
            </a:r>
            <a:endParaRPr lang="en-IN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2895600" y="545068"/>
            <a:ext cx="609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LAB</a:t>
            </a:r>
            <a:endParaRPr lang="en-IN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3581400" y="561201"/>
            <a:ext cx="990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Pharmacy</a:t>
            </a:r>
            <a:endParaRPr lang="en-IN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4648200" y="561201"/>
            <a:ext cx="10668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Doctor Desk</a:t>
            </a:r>
            <a:endParaRPr lang="en-IN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-76200" y="898267"/>
            <a:ext cx="1298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 Transactions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1203067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478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16" name="TextBox 15"/>
          <p:cNvSpPr txBox="1"/>
          <p:nvPr/>
        </p:nvSpPr>
        <p:spPr>
          <a:xfrm>
            <a:off x="19812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25146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3048000" y="95684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0" y="990600"/>
            <a:ext cx="685800" cy="21544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PrintBill</a:t>
            </a:r>
            <a:endParaRPr lang="en-IN" sz="800" dirty="0"/>
          </a:p>
        </p:txBody>
      </p:sp>
      <p:sp>
        <p:nvSpPr>
          <p:cNvPr id="24" name="TextBox 23"/>
          <p:cNvSpPr txBox="1"/>
          <p:nvPr/>
        </p:nvSpPr>
        <p:spPr>
          <a:xfrm>
            <a:off x="4191000" y="1447800"/>
            <a:ext cx="100059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Bill No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Mobile No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Patient Name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Patient Age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Gender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Address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Consult Doctor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In Words 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05400" y="1954657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Rectangle 25"/>
          <p:cNvSpPr/>
          <p:nvPr/>
        </p:nvSpPr>
        <p:spPr>
          <a:xfrm>
            <a:off x="5791200" y="2259457"/>
            <a:ext cx="16002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Patient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05400" y="2235875"/>
            <a:ext cx="6096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105400" y="2564257"/>
            <a:ext cx="6096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Age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105400" y="2921675"/>
            <a:ext cx="914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Male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791200" y="2564257"/>
            <a:ext cx="762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Years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105400" y="3554857"/>
            <a:ext cx="2286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OP Consult Doctor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781800" y="974467"/>
            <a:ext cx="685800" cy="200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sz="700" dirty="0"/>
          </a:p>
        </p:txBody>
      </p:sp>
      <p:sp>
        <p:nvSpPr>
          <p:cNvPr id="55" name="TextBox 54"/>
          <p:cNvSpPr txBox="1"/>
          <p:nvPr/>
        </p:nvSpPr>
        <p:spPr>
          <a:xfrm>
            <a:off x="1371600" y="1216223"/>
            <a:ext cx="1600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OP Dues Collection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791200" y="561201"/>
            <a:ext cx="9144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ADMIN</a:t>
            </a:r>
            <a:endParaRPr lang="en-IN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7543800" y="1219200"/>
            <a:ext cx="15240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OP Dues</a:t>
            </a:r>
          </a:p>
        </p:txBody>
      </p:sp>
      <p:cxnSp>
        <p:nvCxnSpPr>
          <p:cNvPr id="58" name="Straight Connector 57"/>
          <p:cNvCxnSpPr/>
          <p:nvPr/>
        </p:nvCxnSpPr>
        <p:spPr>
          <a:xfrm rot="5400000">
            <a:off x="4725194" y="4037806"/>
            <a:ext cx="5638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543800" y="15240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Between Dates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543800" y="16764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Search Type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543800" y="1828800"/>
            <a:ext cx="914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Name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534400" y="1828800"/>
            <a:ext cx="533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543800" y="9906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64" name="TextBox 63"/>
          <p:cNvSpPr txBox="1"/>
          <p:nvPr/>
        </p:nvSpPr>
        <p:spPr>
          <a:xfrm>
            <a:off x="8382000" y="9906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cxnSp>
        <p:nvCxnSpPr>
          <p:cNvPr id="65" name="Straight Connector 64"/>
          <p:cNvCxnSpPr/>
          <p:nvPr/>
        </p:nvCxnSpPr>
        <p:spPr>
          <a:xfrm rot="16200000" flipH="1">
            <a:off x="-2057399" y="34290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8077200" y="228600"/>
            <a:ext cx="609600" cy="38100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Logout</a:t>
            </a:r>
            <a:endParaRPr lang="en-IN" sz="105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924800" y="609600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 smtClean="0">
                <a:solidFill>
                  <a:schemeClr val="accent1">
                    <a:lumMod val="50000"/>
                  </a:schemeClr>
                </a:solidFill>
              </a:rPr>
              <a:t>User Name</a:t>
            </a:r>
            <a:endParaRPr lang="en-IN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971800" y="11668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Verdana" pitchFamily="34" charset="0"/>
                <a:ea typeface="Verdana" pitchFamily="34" charset="0"/>
              </a:rPr>
              <a:t>Hospital Management System</a:t>
            </a:r>
            <a:endParaRPr lang="en-IN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0" y="1169075"/>
            <a:ext cx="1176925" cy="1304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Consultation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Procedures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Due Collections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Cancellations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Refunds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105400" y="3250057"/>
            <a:ext cx="2286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OP Consult Doctor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371600" y="1513344"/>
            <a:ext cx="1298753" cy="300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Transaction Date 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Transaction Type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UHID/OP/Procedure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Due Amount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Paid Amount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Post Disc Amt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Remarks  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Pay Mode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Patient Category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667000" y="19310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1" name="Rectangle 110"/>
          <p:cNvSpPr/>
          <p:nvPr/>
        </p:nvSpPr>
        <p:spPr>
          <a:xfrm>
            <a:off x="2667000" y="2259457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2" name="Rectangle 111"/>
          <p:cNvSpPr/>
          <p:nvPr/>
        </p:nvSpPr>
        <p:spPr>
          <a:xfrm>
            <a:off x="2667000" y="26168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3" name="Rectangle 112"/>
          <p:cNvSpPr/>
          <p:nvPr/>
        </p:nvSpPr>
        <p:spPr>
          <a:xfrm>
            <a:off x="2667000" y="29978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4" name="Rectangle 113"/>
          <p:cNvSpPr/>
          <p:nvPr/>
        </p:nvSpPr>
        <p:spPr>
          <a:xfrm>
            <a:off x="2667000" y="33026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5" name="Rectangle 114"/>
          <p:cNvSpPr/>
          <p:nvPr/>
        </p:nvSpPr>
        <p:spPr>
          <a:xfrm>
            <a:off x="2667000" y="36074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6" name="Rectangle 115"/>
          <p:cNvSpPr/>
          <p:nvPr/>
        </p:nvSpPr>
        <p:spPr>
          <a:xfrm>
            <a:off x="2667000" y="1623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7" name="Rectangle 116"/>
          <p:cNvSpPr/>
          <p:nvPr/>
        </p:nvSpPr>
        <p:spPr>
          <a:xfrm>
            <a:off x="5105400" y="1623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8" name="Rectangle 117"/>
          <p:cNvSpPr/>
          <p:nvPr/>
        </p:nvSpPr>
        <p:spPr>
          <a:xfrm>
            <a:off x="2667000" y="3909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9" name="Rectangle 118"/>
          <p:cNvSpPr/>
          <p:nvPr/>
        </p:nvSpPr>
        <p:spPr>
          <a:xfrm>
            <a:off x="2667000" y="42145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0" name="Rectangle 119"/>
          <p:cNvSpPr/>
          <p:nvPr/>
        </p:nvSpPr>
        <p:spPr>
          <a:xfrm>
            <a:off x="5105400" y="3833582"/>
            <a:ext cx="2286000" cy="586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Amount in Words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81200"/>
            <a:ext cx="1371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447800" y="1219200"/>
            <a:ext cx="60198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000" b="1" dirty="0" smtClean="0">
                <a:solidFill>
                  <a:schemeClr val="tx1"/>
                </a:solidFill>
              </a:rPr>
              <a:t>Bill Date : 15/02/2024 14;13 pm</a:t>
            </a:r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rot="5400000">
            <a:off x="4495800" y="3961606"/>
            <a:ext cx="594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47800" y="533400"/>
            <a:ext cx="685800" cy="27699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solidFill>
                  <a:schemeClr val="tx1"/>
                </a:solidFill>
              </a:rPr>
              <a:t>OP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9800" y="533400"/>
            <a:ext cx="609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IP</a:t>
            </a:r>
            <a:endParaRPr lang="en-IN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2895600" y="545068"/>
            <a:ext cx="609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LAB</a:t>
            </a:r>
            <a:endParaRPr lang="en-IN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3581400" y="561201"/>
            <a:ext cx="990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Pharmacy</a:t>
            </a:r>
            <a:endParaRPr lang="en-IN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648200" y="561201"/>
            <a:ext cx="10668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Doctor Desk</a:t>
            </a:r>
            <a:endParaRPr lang="en-IN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-76200" y="898267"/>
            <a:ext cx="1298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 Transactions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203067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478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14" name="TextBox 13"/>
          <p:cNvSpPr txBox="1"/>
          <p:nvPr/>
        </p:nvSpPr>
        <p:spPr>
          <a:xfrm>
            <a:off x="19812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15" name="TextBox 14"/>
          <p:cNvSpPr txBox="1"/>
          <p:nvPr/>
        </p:nvSpPr>
        <p:spPr>
          <a:xfrm>
            <a:off x="25146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16" name="TextBox 15"/>
          <p:cNvSpPr txBox="1"/>
          <p:nvPr/>
        </p:nvSpPr>
        <p:spPr>
          <a:xfrm>
            <a:off x="3048000" y="95684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3810000" y="990600"/>
            <a:ext cx="685800" cy="21544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PrintBill</a:t>
            </a:r>
            <a:endParaRPr lang="en-IN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4181005" y="1524000"/>
            <a:ext cx="1000595" cy="300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Cancel Bill No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Mobile No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Patient Name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Patient Age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Gender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Address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Consult Doctor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Pay Mode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In Words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5400" y="1954657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5791200" y="2259457"/>
            <a:ext cx="16002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Patient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05400" y="2235875"/>
            <a:ext cx="6096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105400" y="2564257"/>
            <a:ext cx="6096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Age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105400" y="2921675"/>
            <a:ext cx="914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Male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791200" y="2564257"/>
            <a:ext cx="762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Years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105400" y="3554857"/>
            <a:ext cx="2286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OP Consult Doctor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81800" y="974467"/>
            <a:ext cx="685800" cy="200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sz="700" dirty="0"/>
          </a:p>
        </p:txBody>
      </p:sp>
      <p:sp>
        <p:nvSpPr>
          <p:cNvPr id="27" name="TextBox 26"/>
          <p:cNvSpPr txBox="1"/>
          <p:nvPr/>
        </p:nvSpPr>
        <p:spPr>
          <a:xfrm>
            <a:off x="1371600" y="1216223"/>
            <a:ext cx="1434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OP Cancellations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91200" y="561201"/>
            <a:ext cx="9144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ADMIN</a:t>
            </a:r>
            <a:endParaRPr lang="en-IN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7543800" y="1219200"/>
            <a:ext cx="15240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OP Cancellations</a:t>
            </a:r>
          </a:p>
        </p:txBody>
      </p:sp>
      <p:cxnSp>
        <p:nvCxnSpPr>
          <p:cNvPr id="30" name="Straight Connector 29"/>
          <p:cNvCxnSpPr/>
          <p:nvPr/>
        </p:nvCxnSpPr>
        <p:spPr>
          <a:xfrm rot="5400000">
            <a:off x="4725194" y="4037806"/>
            <a:ext cx="5638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543800" y="15240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Between Dates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543800" y="16764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Search Type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543800" y="1828800"/>
            <a:ext cx="914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Name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534400" y="1828800"/>
            <a:ext cx="533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43800" y="9906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36" name="TextBox 35"/>
          <p:cNvSpPr txBox="1"/>
          <p:nvPr/>
        </p:nvSpPr>
        <p:spPr>
          <a:xfrm>
            <a:off x="8382000" y="9906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cxnSp>
        <p:nvCxnSpPr>
          <p:cNvPr id="37" name="Straight Connector 36"/>
          <p:cNvCxnSpPr/>
          <p:nvPr/>
        </p:nvCxnSpPr>
        <p:spPr>
          <a:xfrm rot="16200000" flipH="1">
            <a:off x="-2057399" y="34290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77200" y="228600"/>
            <a:ext cx="609600" cy="38100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Logout</a:t>
            </a:r>
            <a:endParaRPr lang="en-IN" sz="105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924800" y="609600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 smtClean="0">
                <a:solidFill>
                  <a:schemeClr val="accent1">
                    <a:lumMod val="50000"/>
                  </a:schemeClr>
                </a:solidFill>
              </a:rPr>
              <a:t>User Name</a:t>
            </a:r>
            <a:endParaRPr lang="en-IN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971800" y="11668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Verdana" pitchFamily="34" charset="0"/>
                <a:ea typeface="Verdana" pitchFamily="34" charset="0"/>
              </a:rPr>
              <a:t>Hospital Management System</a:t>
            </a:r>
            <a:endParaRPr lang="en-IN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105400" y="3250057"/>
            <a:ext cx="2286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OP Consult Doctor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71600" y="1513344"/>
            <a:ext cx="1298753" cy="300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Cancel Date Time 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Cancel  Type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UHID/OP/Procedure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Total Amount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Disc Amount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Net  Amount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Paid Amount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Cancel Amount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Remarks 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67000" y="19310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Rectangle 44"/>
          <p:cNvSpPr/>
          <p:nvPr/>
        </p:nvSpPr>
        <p:spPr>
          <a:xfrm>
            <a:off x="2667000" y="2259457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6" name="Rectangle 45"/>
          <p:cNvSpPr/>
          <p:nvPr/>
        </p:nvSpPr>
        <p:spPr>
          <a:xfrm>
            <a:off x="2667000" y="26168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7" name="Rectangle 46"/>
          <p:cNvSpPr/>
          <p:nvPr/>
        </p:nvSpPr>
        <p:spPr>
          <a:xfrm>
            <a:off x="2667000" y="29978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2667000" y="33026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Rectangle 48"/>
          <p:cNvSpPr/>
          <p:nvPr/>
        </p:nvSpPr>
        <p:spPr>
          <a:xfrm>
            <a:off x="2667000" y="36074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Rectangle 49"/>
          <p:cNvSpPr/>
          <p:nvPr/>
        </p:nvSpPr>
        <p:spPr>
          <a:xfrm>
            <a:off x="2667000" y="1623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Rectangle 50"/>
          <p:cNvSpPr/>
          <p:nvPr/>
        </p:nvSpPr>
        <p:spPr>
          <a:xfrm>
            <a:off x="5105400" y="1623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2" name="Rectangle 51"/>
          <p:cNvSpPr/>
          <p:nvPr/>
        </p:nvSpPr>
        <p:spPr>
          <a:xfrm>
            <a:off x="2667000" y="3909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Rectangle 52"/>
          <p:cNvSpPr/>
          <p:nvPr/>
        </p:nvSpPr>
        <p:spPr>
          <a:xfrm>
            <a:off x="2667000" y="4214581"/>
            <a:ext cx="1524000" cy="50029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4" name="Rectangle 53"/>
          <p:cNvSpPr/>
          <p:nvPr/>
        </p:nvSpPr>
        <p:spPr>
          <a:xfrm>
            <a:off x="5105400" y="4214582"/>
            <a:ext cx="2286000" cy="586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Amount in Words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0" y="1169075"/>
            <a:ext cx="1176925" cy="1304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Consultation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Procedures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Due Collections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Cancellations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Refunds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05400" y="3909782"/>
            <a:ext cx="2286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Cash /Online Payment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09800"/>
            <a:ext cx="1371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447800" y="1219200"/>
            <a:ext cx="60198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000" b="1" dirty="0" smtClean="0">
                <a:solidFill>
                  <a:schemeClr val="tx1"/>
                </a:solidFill>
              </a:rPr>
              <a:t>Bill Date : 15/02/2024 14;13 pm</a:t>
            </a:r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rot="5400000">
            <a:off x="4495800" y="3961606"/>
            <a:ext cx="594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47800" y="533400"/>
            <a:ext cx="685800" cy="27699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solidFill>
                  <a:schemeClr val="tx1"/>
                </a:solidFill>
              </a:rPr>
              <a:t>OP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9800" y="533400"/>
            <a:ext cx="609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IP</a:t>
            </a:r>
            <a:endParaRPr lang="en-IN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2895600" y="545068"/>
            <a:ext cx="609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LAB</a:t>
            </a:r>
            <a:endParaRPr lang="en-IN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3581400" y="561201"/>
            <a:ext cx="990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Pharmacy</a:t>
            </a:r>
            <a:endParaRPr lang="en-IN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648200" y="561201"/>
            <a:ext cx="10668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Doctor Desk</a:t>
            </a:r>
            <a:endParaRPr lang="en-IN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-76200" y="898267"/>
            <a:ext cx="1298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 Transactions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203067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478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14" name="TextBox 13"/>
          <p:cNvSpPr txBox="1"/>
          <p:nvPr/>
        </p:nvSpPr>
        <p:spPr>
          <a:xfrm>
            <a:off x="19812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15" name="TextBox 14"/>
          <p:cNvSpPr txBox="1"/>
          <p:nvPr/>
        </p:nvSpPr>
        <p:spPr>
          <a:xfrm>
            <a:off x="25146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16" name="TextBox 15"/>
          <p:cNvSpPr txBox="1"/>
          <p:nvPr/>
        </p:nvSpPr>
        <p:spPr>
          <a:xfrm>
            <a:off x="3048000" y="95684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3810000" y="990600"/>
            <a:ext cx="685800" cy="21544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PrintBill</a:t>
            </a:r>
            <a:endParaRPr lang="en-IN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4181005" y="1524000"/>
            <a:ext cx="1000595" cy="300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Refund Bill No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Mobile No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Patient Name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Patient Age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Gender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Address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Consult Doctor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Pay Mode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In Words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5400" y="1954657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5791200" y="2259457"/>
            <a:ext cx="16002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Patient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05400" y="2235875"/>
            <a:ext cx="6096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105400" y="2564257"/>
            <a:ext cx="6096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Age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105400" y="2921675"/>
            <a:ext cx="914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Male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791200" y="2564257"/>
            <a:ext cx="762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Years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105400" y="3554857"/>
            <a:ext cx="2286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OP Consult Doctor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81800" y="974467"/>
            <a:ext cx="685800" cy="200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sz="700" dirty="0"/>
          </a:p>
        </p:txBody>
      </p:sp>
      <p:sp>
        <p:nvSpPr>
          <p:cNvPr id="27" name="TextBox 26"/>
          <p:cNvSpPr txBox="1"/>
          <p:nvPr/>
        </p:nvSpPr>
        <p:spPr>
          <a:xfrm>
            <a:off x="1371600" y="1216223"/>
            <a:ext cx="10463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OP Refunds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91200" y="561201"/>
            <a:ext cx="9144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ADMIN</a:t>
            </a:r>
            <a:endParaRPr lang="en-IN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7543800" y="1219200"/>
            <a:ext cx="15240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OP Refunds</a:t>
            </a:r>
          </a:p>
        </p:txBody>
      </p:sp>
      <p:cxnSp>
        <p:nvCxnSpPr>
          <p:cNvPr id="30" name="Straight Connector 29"/>
          <p:cNvCxnSpPr/>
          <p:nvPr/>
        </p:nvCxnSpPr>
        <p:spPr>
          <a:xfrm rot="5400000">
            <a:off x="4725194" y="4037806"/>
            <a:ext cx="5638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543800" y="15240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Between Dates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543800" y="16764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Search Type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543800" y="1828800"/>
            <a:ext cx="914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Name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534400" y="1828800"/>
            <a:ext cx="533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43800" y="9906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36" name="TextBox 35"/>
          <p:cNvSpPr txBox="1"/>
          <p:nvPr/>
        </p:nvSpPr>
        <p:spPr>
          <a:xfrm>
            <a:off x="8382000" y="9906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cxnSp>
        <p:nvCxnSpPr>
          <p:cNvPr id="37" name="Straight Connector 36"/>
          <p:cNvCxnSpPr/>
          <p:nvPr/>
        </p:nvCxnSpPr>
        <p:spPr>
          <a:xfrm rot="16200000" flipH="1">
            <a:off x="-2057399" y="34290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77200" y="228600"/>
            <a:ext cx="609600" cy="38100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Logout</a:t>
            </a:r>
            <a:endParaRPr lang="en-IN" sz="105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924800" y="609600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 smtClean="0">
                <a:solidFill>
                  <a:schemeClr val="accent1">
                    <a:lumMod val="50000"/>
                  </a:schemeClr>
                </a:solidFill>
              </a:rPr>
              <a:t>User Name</a:t>
            </a:r>
            <a:endParaRPr lang="en-IN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971800" y="11668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Verdana" pitchFamily="34" charset="0"/>
                <a:ea typeface="Verdana" pitchFamily="34" charset="0"/>
              </a:rPr>
              <a:t>Hospital Management System</a:t>
            </a:r>
            <a:endParaRPr lang="en-IN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105400" y="3250057"/>
            <a:ext cx="2286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OP Consult Doctor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371600" y="1513344"/>
            <a:ext cx="1298753" cy="300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Refund Date Time 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Refund Type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UHID/OP/Procedure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Total Amount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Disc Amount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Net  Amount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Paid Amount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Refund Amount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Remarks 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67000" y="19310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4" name="Rectangle 43"/>
          <p:cNvSpPr/>
          <p:nvPr/>
        </p:nvSpPr>
        <p:spPr>
          <a:xfrm>
            <a:off x="2667000" y="2259457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Rectangle 44"/>
          <p:cNvSpPr/>
          <p:nvPr/>
        </p:nvSpPr>
        <p:spPr>
          <a:xfrm>
            <a:off x="2667000" y="26168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6" name="Rectangle 45"/>
          <p:cNvSpPr/>
          <p:nvPr/>
        </p:nvSpPr>
        <p:spPr>
          <a:xfrm>
            <a:off x="2667000" y="29978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7" name="Rectangle 46"/>
          <p:cNvSpPr/>
          <p:nvPr/>
        </p:nvSpPr>
        <p:spPr>
          <a:xfrm>
            <a:off x="2667000" y="33026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2667000" y="36074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Rectangle 48"/>
          <p:cNvSpPr/>
          <p:nvPr/>
        </p:nvSpPr>
        <p:spPr>
          <a:xfrm>
            <a:off x="2667000" y="1623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Rectangle 49"/>
          <p:cNvSpPr/>
          <p:nvPr/>
        </p:nvSpPr>
        <p:spPr>
          <a:xfrm>
            <a:off x="5105400" y="1623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Rectangle 50"/>
          <p:cNvSpPr/>
          <p:nvPr/>
        </p:nvSpPr>
        <p:spPr>
          <a:xfrm>
            <a:off x="2667000" y="3909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2" name="Rectangle 51"/>
          <p:cNvSpPr/>
          <p:nvPr/>
        </p:nvSpPr>
        <p:spPr>
          <a:xfrm>
            <a:off x="2667000" y="4214581"/>
            <a:ext cx="1524000" cy="50029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Rectangle 52"/>
          <p:cNvSpPr/>
          <p:nvPr/>
        </p:nvSpPr>
        <p:spPr>
          <a:xfrm>
            <a:off x="5105400" y="4214582"/>
            <a:ext cx="2286000" cy="586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Amount in Words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105400" y="3909782"/>
            <a:ext cx="2286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Cash /Online Payment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0" y="1169075"/>
            <a:ext cx="1176925" cy="1546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Consultation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Procedures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Due Collections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Cancellations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Refunds</a:t>
            </a:r>
          </a:p>
          <a:p>
            <a:pPr>
              <a:lnSpc>
                <a:spcPct val="150000"/>
              </a:lnSpc>
            </a:pPr>
            <a:endParaRPr lang="en-IN" sz="105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38400"/>
            <a:ext cx="1371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47800" y="533400"/>
            <a:ext cx="685800" cy="27699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solidFill>
                  <a:schemeClr val="tx1"/>
                </a:solidFill>
              </a:rPr>
              <a:t>OP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9800" y="533400"/>
            <a:ext cx="609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IP</a:t>
            </a:r>
            <a:endParaRPr lang="en-IN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2895600" y="545068"/>
            <a:ext cx="609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LAB</a:t>
            </a:r>
            <a:endParaRPr lang="en-IN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3581400" y="561201"/>
            <a:ext cx="990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Pharmacy</a:t>
            </a:r>
            <a:endParaRPr lang="en-IN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648200" y="561201"/>
            <a:ext cx="10668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Doctor Desk</a:t>
            </a:r>
            <a:endParaRPr lang="en-IN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3886200" y="914400"/>
            <a:ext cx="938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OP Queue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203067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91200" y="561201"/>
            <a:ext cx="9144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ADMIN</a:t>
            </a:r>
            <a:endParaRPr lang="en-IN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7924800" y="914400"/>
            <a:ext cx="685800" cy="2769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Back</a:t>
            </a:r>
            <a:endParaRPr lang="en-IN" sz="800" dirty="0"/>
          </a:p>
        </p:txBody>
      </p:sp>
      <p:cxnSp>
        <p:nvCxnSpPr>
          <p:cNvPr id="37" name="Straight Connector 36"/>
          <p:cNvCxnSpPr/>
          <p:nvPr/>
        </p:nvCxnSpPr>
        <p:spPr>
          <a:xfrm rot="16200000" flipH="1">
            <a:off x="-2057399" y="34290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77200" y="228600"/>
            <a:ext cx="609600" cy="38100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Logout</a:t>
            </a:r>
            <a:endParaRPr lang="en-IN" sz="105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924800" y="609600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 smtClean="0">
                <a:solidFill>
                  <a:schemeClr val="accent1">
                    <a:lumMod val="50000"/>
                  </a:schemeClr>
                </a:solidFill>
              </a:rPr>
              <a:t>User Name</a:t>
            </a:r>
            <a:endParaRPr lang="en-IN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971800" y="11668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Verdana" pitchFamily="34" charset="0"/>
                <a:ea typeface="Verdana" pitchFamily="34" charset="0"/>
              </a:rPr>
              <a:t>Hospital Management System</a:t>
            </a:r>
            <a:endParaRPr lang="en-IN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0" y="1169075"/>
            <a:ext cx="14590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Consultation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Procedures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Due Collections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Cancellations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Refunds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OP Queue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Appointment Booking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050" dirty="0" smtClean="0"/>
              <a:t> Appointment Status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0" y="914400"/>
            <a:ext cx="1298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 Transactions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16764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" name="Straight Connector 1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-76200" y="1295400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Master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400" y="1606473"/>
            <a:ext cx="157331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Consultant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Procedure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Referral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Department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Specialization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Country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State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District/City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Mandal/Area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Village/Place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Certificate Master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52600" y="1216223"/>
            <a:ext cx="15372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Consultant Doctor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76600" y="19310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3276600" y="2259457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3276600" y="26168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3276600" y="29191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3276600" y="1623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7696200" y="1600200"/>
            <a:ext cx="1143000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bg2">
                    <a:lumMod val="90000"/>
                  </a:schemeClr>
                </a:solidFill>
              </a:rPr>
              <a:t>Photo</a:t>
            </a:r>
            <a:endParaRPr lang="en-I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52600" y="1447800"/>
            <a:ext cx="1535998" cy="23544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Consultant Doctor Name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Doctor Register No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Department 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Specialization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Qualification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Prescription Templates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Note On Prescription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800" y="2286000"/>
            <a:ext cx="457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add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876800" y="2667000"/>
            <a:ext cx="457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add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248400" y="1907493"/>
            <a:ext cx="11430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Rectangle 31"/>
          <p:cNvSpPr/>
          <p:nvPr/>
        </p:nvSpPr>
        <p:spPr>
          <a:xfrm>
            <a:off x="6248400" y="2235875"/>
            <a:ext cx="11430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/>
          <p:cNvSpPr/>
          <p:nvPr/>
        </p:nvSpPr>
        <p:spPr>
          <a:xfrm>
            <a:off x="6248400" y="1600200"/>
            <a:ext cx="11430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5410200" y="1452771"/>
            <a:ext cx="867545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Mobile NO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Age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Gender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Address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ConsultTime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8400" y="2540675"/>
            <a:ext cx="25908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/>
          <p:cNvSpPr/>
          <p:nvPr/>
        </p:nvSpPr>
        <p:spPr>
          <a:xfrm>
            <a:off x="3276600" y="32239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Selection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248400" y="2895600"/>
            <a:ext cx="25908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Between Time interval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40303" y="3124200"/>
            <a:ext cx="212269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Active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ApplyReviewFeeAfterRegExpired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ApplyValidityConditionsOldPatients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35503" y="3276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335503" y="35814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335503" y="38862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276600" y="3528782"/>
            <a:ext cx="28956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Note On Prescription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44" name="Straight Connector 43"/>
          <p:cNvCxnSpPr/>
          <p:nvPr/>
        </p:nvCxnSpPr>
        <p:spPr>
          <a:xfrm>
            <a:off x="1752600" y="4114800"/>
            <a:ext cx="7391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828800" y="3853190"/>
            <a:ext cx="825867" cy="2616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100" b="1" dirty="0" smtClean="0">
                <a:solidFill>
                  <a:schemeClr val="accent1">
                    <a:lumMod val="50000"/>
                  </a:schemeClr>
                </a:solidFill>
              </a:rPr>
              <a:t>Fee Details</a:t>
            </a:r>
            <a:endParaRPr lang="en-IN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52600" y="4142601"/>
            <a:ext cx="6846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General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114800" y="4142601"/>
            <a:ext cx="8960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To Hospital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048000" y="4142601"/>
            <a:ext cx="754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Total Fee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335189" y="4142601"/>
            <a:ext cx="801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To Doctor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971800" y="44196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4" name="Rectangle 53"/>
          <p:cNvSpPr/>
          <p:nvPr/>
        </p:nvSpPr>
        <p:spPr>
          <a:xfrm>
            <a:off x="2971800" y="47244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5" name="TextBox 54"/>
          <p:cNvSpPr txBox="1"/>
          <p:nvPr/>
        </p:nvSpPr>
        <p:spPr>
          <a:xfrm>
            <a:off x="1752600" y="4324789"/>
            <a:ext cx="1104790" cy="5520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Consultation Fee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Review Fee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44196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7" name="Rectangle 56"/>
          <p:cNvSpPr/>
          <p:nvPr/>
        </p:nvSpPr>
        <p:spPr>
          <a:xfrm>
            <a:off x="4114800" y="47244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" name="Rectangle 57"/>
          <p:cNvSpPr/>
          <p:nvPr/>
        </p:nvSpPr>
        <p:spPr>
          <a:xfrm>
            <a:off x="5257800" y="44196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9" name="Rectangle 58"/>
          <p:cNvSpPr/>
          <p:nvPr/>
        </p:nvSpPr>
        <p:spPr>
          <a:xfrm>
            <a:off x="5257800" y="47244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0" name="TextBox 59"/>
          <p:cNvSpPr txBox="1"/>
          <p:nvPr/>
        </p:nvSpPr>
        <p:spPr>
          <a:xfrm>
            <a:off x="1752600" y="4980801"/>
            <a:ext cx="8833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Emergency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114800" y="4980801"/>
            <a:ext cx="8960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To Hospital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048000" y="4980801"/>
            <a:ext cx="754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Total Fee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335189" y="4980801"/>
            <a:ext cx="801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To Doctor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2971800" y="52578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5" name="Rectangle 64"/>
          <p:cNvSpPr/>
          <p:nvPr/>
        </p:nvSpPr>
        <p:spPr>
          <a:xfrm>
            <a:off x="2971800" y="55626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6" name="TextBox 65"/>
          <p:cNvSpPr txBox="1"/>
          <p:nvPr/>
        </p:nvSpPr>
        <p:spPr>
          <a:xfrm>
            <a:off x="1752600" y="5162989"/>
            <a:ext cx="1104790" cy="5520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Consultation Fee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Review Fee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0" y="52578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8" name="Rectangle 67"/>
          <p:cNvSpPr/>
          <p:nvPr/>
        </p:nvSpPr>
        <p:spPr>
          <a:xfrm>
            <a:off x="4114800" y="55626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9" name="Rectangle 68"/>
          <p:cNvSpPr/>
          <p:nvPr/>
        </p:nvSpPr>
        <p:spPr>
          <a:xfrm>
            <a:off x="5257800" y="52578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0" name="Rectangle 69"/>
          <p:cNvSpPr/>
          <p:nvPr/>
        </p:nvSpPr>
        <p:spPr>
          <a:xfrm>
            <a:off x="5257800" y="55626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1" name="TextBox 70"/>
          <p:cNvSpPr txBox="1"/>
          <p:nvPr/>
        </p:nvSpPr>
        <p:spPr>
          <a:xfrm>
            <a:off x="1752600" y="5895201"/>
            <a:ext cx="115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IP Consultation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191000" y="5895201"/>
            <a:ext cx="8960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To Hospital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124200" y="5895201"/>
            <a:ext cx="754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Total Fee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411389" y="5895201"/>
            <a:ext cx="801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To Doctor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2971800" y="61722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7" name="TextBox 76"/>
          <p:cNvSpPr txBox="1"/>
          <p:nvPr/>
        </p:nvSpPr>
        <p:spPr>
          <a:xfrm>
            <a:off x="1752600" y="6077389"/>
            <a:ext cx="1104790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Consultation Fee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0" y="61722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0" name="Rectangle 79"/>
          <p:cNvSpPr/>
          <p:nvPr/>
        </p:nvSpPr>
        <p:spPr>
          <a:xfrm>
            <a:off x="5257800" y="61722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3" name="TextBox 82"/>
          <p:cNvSpPr txBox="1"/>
          <p:nvPr/>
        </p:nvSpPr>
        <p:spPr>
          <a:xfrm>
            <a:off x="6629400" y="4114800"/>
            <a:ext cx="666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Validity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629400" y="4296988"/>
            <a:ext cx="1007007" cy="1016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NoOf FeeDays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NoOfReviews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NoOfValidDays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20000" y="44196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6" name="Rectangle 85"/>
          <p:cNvSpPr/>
          <p:nvPr/>
        </p:nvSpPr>
        <p:spPr>
          <a:xfrm>
            <a:off x="7620000" y="47244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7" name="Rectangle 86"/>
          <p:cNvSpPr/>
          <p:nvPr/>
        </p:nvSpPr>
        <p:spPr>
          <a:xfrm>
            <a:off x="7620000" y="50292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8" name="TextBox 87"/>
          <p:cNvSpPr txBox="1"/>
          <p:nvPr/>
        </p:nvSpPr>
        <p:spPr>
          <a:xfrm>
            <a:off x="36576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89" name="TextBox 88"/>
          <p:cNvSpPr txBox="1"/>
          <p:nvPr/>
        </p:nvSpPr>
        <p:spPr>
          <a:xfrm>
            <a:off x="41910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90" name="TextBox 89"/>
          <p:cNvSpPr txBox="1"/>
          <p:nvPr/>
        </p:nvSpPr>
        <p:spPr>
          <a:xfrm>
            <a:off x="47244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91" name="TextBox 90"/>
          <p:cNvSpPr txBox="1"/>
          <p:nvPr/>
        </p:nvSpPr>
        <p:spPr>
          <a:xfrm>
            <a:off x="5257800" y="12192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92" name="TextBox 91"/>
          <p:cNvSpPr txBox="1"/>
          <p:nvPr/>
        </p:nvSpPr>
        <p:spPr>
          <a:xfrm>
            <a:off x="6019800" y="12192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95" name="TextBox 94"/>
          <p:cNvSpPr txBox="1"/>
          <p:nvPr/>
        </p:nvSpPr>
        <p:spPr>
          <a:xfrm>
            <a:off x="6858000" y="123235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812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-76200" y="1295400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Master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400" y="1606473"/>
            <a:ext cx="157331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Consultant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Procedure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Referral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Department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Specialization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Units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Services Type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Certificate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Country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State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District/City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Mandal/Area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Village/Place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Certificate Master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2600" y="12954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52600" y="1279267"/>
            <a:ext cx="1518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Procedure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657600" y="12822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74" name="TextBox 73"/>
          <p:cNvSpPr txBox="1"/>
          <p:nvPr/>
        </p:nvSpPr>
        <p:spPr>
          <a:xfrm>
            <a:off x="4191000" y="12822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75" name="TextBox 74"/>
          <p:cNvSpPr txBox="1"/>
          <p:nvPr/>
        </p:nvSpPr>
        <p:spPr>
          <a:xfrm>
            <a:off x="4724400" y="12822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76" name="TextBox 75"/>
          <p:cNvSpPr txBox="1"/>
          <p:nvPr/>
        </p:nvSpPr>
        <p:spPr>
          <a:xfrm>
            <a:off x="5257800" y="1282244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77" name="TextBox 76"/>
          <p:cNvSpPr txBox="1"/>
          <p:nvPr/>
        </p:nvSpPr>
        <p:spPr>
          <a:xfrm>
            <a:off x="6019800" y="1282244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79" name="TextBox 78"/>
          <p:cNvSpPr txBox="1"/>
          <p:nvPr/>
        </p:nvSpPr>
        <p:spPr>
          <a:xfrm>
            <a:off x="1752600" y="1599070"/>
            <a:ext cx="128592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Procedure Name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Procedure Code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Procedure Rate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To Hospital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Department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Services Type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Units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Services Description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124200" y="2016801"/>
            <a:ext cx="2057400" cy="19549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1" name="Rectangle 80"/>
          <p:cNvSpPr/>
          <p:nvPr/>
        </p:nvSpPr>
        <p:spPr>
          <a:xfrm>
            <a:off x="3124200" y="2345183"/>
            <a:ext cx="2057400" cy="19549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2" name="Rectangle 81"/>
          <p:cNvSpPr/>
          <p:nvPr/>
        </p:nvSpPr>
        <p:spPr>
          <a:xfrm>
            <a:off x="3124200" y="3016927"/>
            <a:ext cx="2057400" cy="19549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3" name="Rectangle 82"/>
          <p:cNvSpPr/>
          <p:nvPr/>
        </p:nvSpPr>
        <p:spPr>
          <a:xfrm>
            <a:off x="3124200" y="3690708"/>
            <a:ext cx="2057400" cy="19549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6" name="Rectangle 85"/>
          <p:cNvSpPr/>
          <p:nvPr/>
        </p:nvSpPr>
        <p:spPr>
          <a:xfrm>
            <a:off x="3124200" y="1709508"/>
            <a:ext cx="2057400" cy="19549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8" name="Rectangle 87"/>
          <p:cNvSpPr/>
          <p:nvPr/>
        </p:nvSpPr>
        <p:spPr>
          <a:xfrm>
            <a:off x="3124200" y="4071707"/>
            <a:ext cx="2057400" cy="50029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9" name="Rectangle 88"/>
          <p:cNvSpPr/>
          <p:nvPr/>
        </p:nvSpPr>
        <p:spPr>
          <a:xfrm>
            <a:off x="3124200" y="3385908"/>
            <a:ext cx="2057400" cy="19549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0" name="TextBox 89"/>
          <p:cNvSpPr txBox="1"/>
          <p:nvPr/>
        </p:nvSpPr>
        <p:spPr>
          <a:xfrm>
            <a:off x="5649703" y="1605171"/>
            <a:ext cx="98135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Active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Doctor Service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Room Service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Edit at Billing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10200" y="1752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5410200" y="20574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410200" y="23622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94" name="Straight Connector 93"/>
          <p:cNvCxnSpPr/>
          <p:nvPr/>
        </p:nvCxnSpPr>
        <p:spPr>
          <a:xfrm rot="16200000" flipH="1">
            <a:off x="3352799" y="35813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5410200" y="27432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858000" y="12954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sp>
        <p:nvSpPr>
          <p:cNvPr id="97" name="TextBox 96"/>
          <p:cNvSpPr txBox="1"/>
          <p:nvPr/>
        </p:nvSpPr>
        <p:spPr>
          <a:xfrm>
            <a:off x="7620000" y="12954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Back</a:t>
            </a:r>
            <a:endParaRPr lang="en-IN" sz="800" dirty="0"/>
          </a:p>
        </p:txBody>
      </p:sp>
      <p:sp>
        <p:nvSpPr>
          <p:cNvPr id="98" name="Rectangle 97"/>
          <p:cNvSpPr/>
          <p:nvPr/>
        </p:nvSpPr>
        <p:spPr>
          <a:xfrm>
            <a:off x="3124200" y="2700108"/>
            <a:ext cx="609600" cy="19549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9" name="Rectangle 98"/>
          <p:cNvSpPr/>
          <p:nvPr/>
        </p:nvSpPr>
        <p:spPr>
          <a:xfrm>
            <a:off x="4572000" y="2667000"/>
            <a:ext cx="609600" cy="19549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1" name="TextBox 100"/>
          <p:cNvSpPr txBox="1"/>
          <p:nvPr/>
        </p:nvSpPr>
        <p:spPr>
          <a:xfrm>
            <a:off x="3770922" y="2525370"/>
            <a:ext cx="724878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To Doctor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58000" y="1600200"/>
            <a:ext cx="22860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Procedure/Services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858000" y="1905000"/>
            <a:ext cx="1600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Search Type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8534400" y="1905000"/>
            <a:ext cx="6096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098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-76200" y="1295400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Master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400" y="1606473"/>
            <a:ext cx="157331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Consultant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Procedure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Referral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Department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Specialization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Units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Services Type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Country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State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District/City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Mandal/Area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Village/Place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Certificate Master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52600" y="1216223"/>
            <a:ext cx="1317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Referral Doctor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819400" y="1907493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2819400" y="22358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2819400" y="2593293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2819400" y="2895600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2819400" y="1600200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752600" y="1447800"/>
            <a:ext cx="1050288" cy="23544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Referral Type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Name Prefix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Doctor  name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Mobile No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Date Of Birth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Procedure tariff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Lab Tariff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74" name="TextBox 73"/>
          <p:cNvSpPr txBox="1"/>
          <p:nvPr/>
        </p:nvSpPr>
        <p:spPr>
          <a:xfrm>
            <a:off x="41910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75" name="TextBox 74"/>
          <p:cNvSpPr txBox="1"/>
          <p:nvPr/>
        </p:nvSpPr>
        <p:spPr>
          <a:xfrm>
            <a:off x="47244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76" name="TextBox 75"/>
          <p:cNvSpPr txBox="1"/>
          <p:nvPr/>
        </p:nvSpPr>
        <p:spPr>
          <a:xfrm>
            <a:off x="5257800" y="12192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77" name="TextBox 76"/>
          <p:cNvSpPr txBox="1"/>
          <p:nvPr/>
        </p:nvSpPr>
        <p:spPr>
          <a:xfrm>
            <a:off x="6019800" y="12192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78" name="TextBox 77"/>
          <p:cNvSpPr txBox="1"/>
          <p:nvPr/>
        </p:nvSpPr>
        <p:spPr>
          <a:xfrm>
            <a:off x="6858000" y="123235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sp>
        <p:nvSpPr>
          <p:cNvPr id="80" name="TextBox 79"/>
          <p:cNvSpPr txBox="1"/>
          <p:nvPr/>
        </p:nvSpPr>
        <p:spPr>
          <a:xfrm>
            <a:off x="7467600" y="1503838"/>
            <a:ext cx="52450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Active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39000" y="1656238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419600" y="1447800"/>
            <a:ext cx="11560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Address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Area/Village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Place/Mandal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City/District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State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Marketing Person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62600" y="1623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8" name="Rectangle 87"/>
          <p:cNvSpPr/>
          <p:nvPr/>
        </p:nvSpPr>
        <p:spPr>
          <a:xfrm>
            <a:off x="5562600" y="19310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9" name="Rectangle 88"/>
          <p:cNvSpPr/>
          <p:nvPr/>
        </p:nvSpPr>
        <p:spPr>
          <a:xfrm>
            <a:off x="5562600" y="22333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0" name="Rectangle 89"/>
          <p:cNvSpPr/>
          <p:nvPr/>
        </p:nvSpPr>
        <p:spPr>
          <a:xfrm>
            <a:off x="5562600" y="25381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1" name="Rectangle 90"/>
          <p:cNvSpPr/>
          <p:nvPr/>
        </p:nvSpPr>
        <p:spPr>
          <a:xfrm>
            <a:off x="5562600" y="28429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2" name="Rectangle 91"/>
          <p:cNvSpPr/>
          <p:nvPr/>
        </p:nvSpPr>
        <p:spPr>
          <a:xfrm>
            <a:off x="2819400" y="3200400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3" name="Rectangle 92"/>
          <p:cNvSpPr/>
          <p:nvPr/>
        </p:nvSpPr>
        <p:spPr>
          <a:xfrm>
            <a:off x="2819400" y="3481618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7" name="TextBox 96"/>
          <p:cNvSpPr txBox="1"/>
          <p:nvPr/>
        </p:nvSpPr>
        <p:spPr>
          <a:xfrm>
            <a:off x="7467600" y="1808638"/>
            <a:ext cx="120257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Is Qualified Doctor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39000" y="1961038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467600" y="2144370"/>
            <a:ext cx="747320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Credit Org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239000" y="229677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562600" y="3200400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/>
          <p:cNvSpPr/>
          <p:nvPr/>
        </p:nvSpPr>
        <p:spPr>
          <a:xfrm>
            <a:off x="1752600" y="2057400"/>
            <a:ext cx="73914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0" y="25146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2" name="Straight Connector 71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75" name="TextBox 74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6" name="TextBox 75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77" name="TextBox 76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78" name="TextBox 77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79" name="TextBox 78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80" name="TextBox 79"/>
          <p:cNvSpPr txBox="1"/>
          <p:nvPr/>
        </p:nvSpPr>
        <p:spPr>
          <a:xfrm>
            <a:off x="-76200" y="1295400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Master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52400" y="1606473"/>
            <a:ext cx="157331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Consultant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Procedure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Referral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Department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Specialization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Units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Services Type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Country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State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District/City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Mandal/Area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Village/Place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Certificate Master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752600" y="205442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S.No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3505200" y="1600201"/>
            <a:ext cx="2438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5" name="TextBox 84"/>
          <p:cNvSpPr txBox="1"/>
          <p:nvPr/>
        </p:nvSpPr>
        <p:spPr>
          <a:xfrm>
            <a:off x="6019800" y="1600200"/>
            <a:ext cx="609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Search</a:t>
            </a:r>
            <a:endParaRPr lang="en-IN" sz="1000" dirty="0"/>
          </a:p>
        </p:txBody>
      </p:sp>
      <p:sp>
        <p:nvSpPr>
          <p:cNvPr id="86" name="TextBox 85"/>
          <p:cNvSpPr txBox="1"/>
          <p:nvPr/>
        </p:nvSpPr>
        <p:spPr>
          <a:xfrm>
            <a:off x="1828800" y="1600201"/>
            <a:ext cx="11430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 New Department</a:t>
            </a:r>
            <a:endParaRPr lang="en-IN" sz="1000" dirty="0"/>
          </a:p>
        </p:txBody>
      </p:sp>
      <p:sp>
        <p:nvSpPr>
          <p:cNvPr id="87" name="TextBox 86"/>
          <p:cNvSpPr txBox="1"/>
          <p:nvPr/>
        </p:nvSpPr>
        <p:spPr>
          <a:xfrm>
            <a:off x="2421917" y="2057400"/>
            <a:ext cx="1091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Department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487962" y="2057400"/>
            <a:ext cx="54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code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294127" y="2057400"/>
            <a:ext cx="649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Active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079416" y="2057400"/>
            <a:ext cx="473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Edit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710714" y="2057400"/>
            <a:ext cx="528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Save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391400" y="2054423"/>
            <a:ext cx="671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Delete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8267966" y="2054423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Tracking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94" name="Straight Connector 93"/>
          <p:cNvCxnSpPr/>
          <p:nvPr/>
        </p:nvCxnSpPr>
        <p:spPr>
          <a:xfrm>
            <a:off x="1752600" y="2665412"/>
            <a:ext cx="731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rot="5400000">
            <a:off x="2057400" y="23622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rot="5400000">
            <a:off x="4114006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rot="5400000">
            <a:off x="48775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rot="5400000">
            <a:off x="57157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rot="5400000">
            <a:off x="6325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rot="5400000">
            <a:off x="70111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rot="5400000">
            <a:off x="7849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4038600" y="1219200"/>
            <a:ext cx="1661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Department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/>
        </p:nvSpPr>
        <p:spPr>
          <a:xfrm>
            <a:off x="1752600" y="2057400"/>
            <a:ext cx="73914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0" y="27432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0" name="Straight Connector 59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63" name="TextBox 62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64" name="TextBox 63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66" name="TextBox 65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67" name="TextBox 66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68" name="TextBox 67"/>
          <p:cNvSpPr txBox="1"/>
          <p:nvPr/>
        </p:nvSpPr>
        <p:spPr>
          <a:xfrm>
            <a:off x="-76200" y="1295400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Master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52400" y="1606473"/>
            <a:ext cx="157331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Consultant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Procedure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Referral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Department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Specialization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Units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Services Type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Country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State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District/City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Mandal/Area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Village/Place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Certificate Master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752600" y="205442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S.No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505200" y="1600201"/>
            <a:ext cx="2438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3" name="TextBox 72"/>
          <p:cNvSpPr txBox="1"/>
          <p:nvPr/>
        </p:nvSpPr>
        <p:spPr>
          <a:xfrm>
            <a:off x="6019800" y="1600200"/>
            <a:ext cx="609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Search</a:t>
            </a:r>
            <a:endParaRPr lang="en-IN" sz="1000" dirty="0"/>
          </a:p>
        </p:txBody>
      </p:sp>
      <p:sp>
        <p:nvSpPr>
          <p:cNvPr id="74" name="TextBox 73"/>
          <p:cNvSpPr txBox="1"/>
          <p:nvPr/>
        </p:nvSpPr>
        <p:spPr>
          <a:xfrm>
            <a:off x="1828800" y="1600201"/>
            <a:ext cx="1371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 New Specialization</a:t>
            </a:r>
            <a:endParaRPr lang="en-IN" sz="1000" dirty="0"/>
          </a:p>
        </p:txBody>
      </p:sp>
      <p:sp>
        <p:nvSpPr>
          <p:cNvPr id="75" name="TextBox 74"/>
          <p:cNvSpPr txBox="1"/>
          <p:nvPr/>
        </p:nvSpPr>
        <p:spPr>
          <a:xfrm>
            <a:off x="2421917" y="2057400"/>
            <a:ext cx="1209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Specialization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733800" y="2057400"/>
            <a:ext cx="54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code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903727" y="2057400"/>
            <a:ext cx="649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Active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629400" y="2057400"/>
            <a:ext cx="473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Edit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091714" y="2057400"/>
            <a:ext cx="528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Save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634013" y="2054423"/>
            <a:ext cx="671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Delete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267966" y="2054423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Tracking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82" name="Straight Connector 81"/>
          <p:cNvCxnSpPr/>
          <p:nvPr/>
        </p:nvCxnSpPr>
        <p:spPr>
          <a:xfrm>
            <a:off x="1752600" y="2665412"/>
            <a:ext cx="731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rot="5400000">
            <a:off x="2057400" y="23622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rot="5400000">
            <a:off x="33535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rot="5400000">
            <a:off x="5638006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rot="5400000">
            <a:off x="6325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rot="5400000">
            <a:off x="6781006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rot="5400000">
            <a:off x="73159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rot="5400000">
            <a:off x="8000206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038600" y="1219200"/>
            <a:ext cx="1779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Specialization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91" name="Straight Connector 90"/>
          <p:cNvCxnSpPr/>
          <p:nvPr/>
        </p:nvCxnSpPr>
        <p:spPr>
          <a:xfrm rot="5400000">
            <a:off x="4039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546898" y="2054423"/>
            <a:ext cx="1091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Department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648200" y="2344579"/>
            <a:ext cx="8435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 smtClean="0">
                <a:solidFill>
                  <a:schemeClr val="bg2">
                    <a:lumMod val="90000"/>
                  </a:schemeClr>
                </a:solidFill>
              </a:rPr>
              <a:t>Master Data</a:t>
            </a:r>
            <a:endParaRPr lang="en-IN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480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-76200" y="1295400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Master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400" y="1606473"/>
            <a:ext cx="157331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Consultant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Procedure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Referral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Department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Specialization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Units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Services Type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Country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State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District/City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Mandal/Area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Village/Place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Certificate Master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52600" y="1216223"/>
            <a:ext cx="577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Units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991298" y="2106811"/>
            <a:ext cx="2438400" cy="560189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2991298" y="1647117"/>
            <a:ext cx="2438400" cy="331589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752600" y="1524000"/>
            <a:ext cx="809837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sz="1050" dirty="0" smtClean="0"/>
              <a:t>Units</a:t>
            </a:r>
          </a:p>
          <a:p>
            <a:pPr>
              <a:lnSpc>
                <a:spcPct val="250000"/>
              </a:lnSpc>
            </a:pPr>
            <a:r>
              <a:rPr lang="en-IN" sz="1050" dirty="0" smtClean="0"/>
              <a:t>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56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19" name="TextBox 18"/>
          <p:cNvSpPr txBox="1"/>
          <p:nvPr/>
        </p:nvSpPr>
        <p:spPr>
          <a:xfrm>
            <a:off x="34290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20" name="TextBox 19"/>
          <p:cNvSpPr txBox="1"/>
          <p:nvPr/>
        </p:nvSpPr>
        <p:spPr>
          <a:xfrm>
            <a:off x="39624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21" name="TextBox 20"/>
          <p:cNvSpPr txBox="1"/>
          <p:nvPr/>
        </p:nvSpPr>
        <p:spPr>
          <a:xfrm>
            <a:off x="4495800" y="12192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22" name="TextBox 21"/>
          <p:cNvSpPr txBox="1"/>
          <p:nvPr/>
        </p:nvSpPr>
        <p:spPr>
          <a:xfrm>
            <a:off x="5257800" y="12192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23" name="TextBox 22"/>
          <p:cNvSpPr txBox="1"/>
          <p:nvPr/>
        </p:nvSpPr>
        <p:spPr>
          <a:xfrm>
            <a:off x="6096000" y="123235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sp>
        <p:nvSpPr>
          <p:cNvPr id="24" name="TextBox 23"/>
          <p:cNvSpPr txBox="1"/>
          <p:nvPr/>
        </p:nvSpPr>
        <p:spPr>
          <a:xfrm>
            <a:off x="3276600" y="2753970"/>
            <a:ext cx="52450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95600" y="2895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 rot="16200000" flipH="1">
            <a:off x="2590801" y="45720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19800" y="1524000"/>
            <a:ext cx="31242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Units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19799" y="1828800"/>
            <a:ext cx="2362201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Name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458200" y="1828800"/>
            <a:ext cx="6096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528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-76200" y="1295400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Master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400" y="1606473"/>
            <a:ext cx="157331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Consultant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Procedure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Referral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Department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Specialization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Units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Services Type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Country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State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District/City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Mandal/Area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Village/Place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Certificate Master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52600" y="1216223"/>
            <a:ext cx="1185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Services Type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991298" y="2106811"/>
            <a:ext cx="2438400" cy="560189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2991298" y="1647117"/>
            <a:ext cx="2438400" cy="331589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752600" y="1524000"/>
            <a:ext cx="925253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sz="1050" dirty="0" smtClean="0"/>
              <a:t>Services Type</a:t>
            </a:r>
          </a:p>
          <a:p>
            <a:pPr>
              <a:lnSpc>
                <a:spcPct val="250000"/>
              </a:lnSpc>
            </a:pPr>
            <a:r>
              <a:rPr lang="en-IN" sz="1050" dirty="0" smtClean="0"/>
              <a:t>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19" name="TextBox 18"/>
          <p:cNvSpPr txBox="1"/>
          <p:nvPr/>
        </p:nvSpPr>
        <p:spPr>
          <a:xfrm>
            <a:off x="41910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20" name="TextBox 19"/>
          <p:cNvSpPr txBox="1"/>
          <p:nvPr/>
        </p:nvSpPr>
        <p:spPr>
          <a:xfrm>
            <a:off x="47244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21" name="TextBox 20"/>
          <p:cNvSpPr txBox="1"/>
          <p:nvPr/>
        </p:nvSpPr>
        <p:spPr>
          <a:xfrm>
            <a:off x="5257800" y="12192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22" name="TextBox 21"/>
          <p:cNvSpPr txBox="1"/>
          <p:nvPr/>
        </p:nvSpPr>
        <p:spPr>
          <a:xfrm>
            <a:off x="6019800" y="12192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23" name="TextBox 22"/>
          <p:cNvSpPr txBox="1"/>
          <p:nvPr/>
        </p:nvSpPr>
        <p:spPr>
          <a:xfrm>
            <a:off x="6858000" y="123235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sp>
        <p:nvSpPr>
          <p:cNvPr id="24" name="TextBox 23"/>
          <p:cNvSpPr txBox="1"/>
          <p:nvPr/>
        </p:nvSpPr>
        <p:spPr>
          <a:xfrm>
            <a:off x="3276600" y="2753970"/>
            <a:ext cx="52450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290637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 rot="16200000" flipH="1">
            <a:off x="2590801" y="45720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19800" y="1524000"/>
            <a:ext cx="31242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Services Type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19799" y="1828800"/>
            <a:ext cx="2362201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Name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458200" y="1828800"/>
            <a:ext cx="6096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1752600" y="2057400"/>
            <a:ext cx="73914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5814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-76200" y="1295400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Master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400" y="1606473"/>
            <a:ext cx="157331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Consultant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Procedure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Referral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Department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Specialization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Units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Services Type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Country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State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District/City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Mandal/Area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Village/Place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Certificate Master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52600" y="205442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S.No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505200" y="1600201"/>
            <a:ext cx="2438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6019800" y="1600200"/>
            <a:ext cx="609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Search</a:t>
            </a:r>
            <a:endParaRPr lang="en-IN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1828800" y="1600201"/>
            <a:ext cx="11430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Add New Country</a:t>
            </a:r>
            <a:endParaRPr lang="en-IN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2421917" y="2057400"/>
            <a:ext cx="778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Country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419600" y="2057400"/>
            <a:ext cx="54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code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294127" y="2057400"/>
            <a:ext cx="649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Active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079416" y="2057400"/>
            <a:ext cx="473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Edit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10714" y="2057400"/>
            <a:ext cx="528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Save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391400" y="2054423"/>
            <a:ext cx="671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Delete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67966" y="2054423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Tracking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40" name="Straight Connector 39"/>
          <p:cNvCxnSpPr/>
          <p:nvPr/>
        </p:nvCxnSpPr>
        <p:spPr>
          <a:xfrm>
            <a:off x="1752600" y="2665412"/>
            <a:ext cx="731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2057400" y="23622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5400000">
            <a:off x="38869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rot="5400000">
            <a:off x="48775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rot="5400000">
            <a:off x="57157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>
            <a:off x="6325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5400000">
            <a:off x="70111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rot="5400000">
            <a:off x="7849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038600" y="1219200"/>
            <a:ext cx="13481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Country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752600" y="2057400"/>
            <a:ext cx="73914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38862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35" name="TextBox 34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37" name="TextBox 36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-76200" y="1295400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Master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52400" y="1606473"/>
            <a:ext cx="157331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Consultant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Procedure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Referral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Department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Specialization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Units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Services Type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Country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State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District/City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Mandal/Area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Village/Place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Certificate Master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52600" y="205442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S.No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505200" y="1600201"/>
            <a:ext cx="2438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4" name="TextBox 43"/>
          <p:cNvSpPr txBox="1"/>
          <p:nvPr/>
        </p:nvSpPr>
        <p:spPr>
          <a:xfrm>
            <a:off x="6019800" y="1600200"/>
            <a:ext cx="609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Search</a:t>
            </a:r>
            <a:endParaRPr lang="en-IN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1828800" y="1600201"/>
            <a:ext cx="11430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Add New State</a:t>
            </a:r>
            <a:endParaRPr lang="en-IN" sz="1000" dirty="0"/>
          </a:p>
        </p:txBody>
      </p:sp>
      <p:sp>
        <p:nvSpPr>
          <p:cNvPr id="46" name="TextBox 45"/>
          <p:cNvSpPr txBox="1"/>
          <p:nvPr/>
        </p:nvSpPr>
        <p:spPr>
          <a:xfrm>
            <a:off x="2421917" y="2057400"/>
            <a:ext cx="567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State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05200" y="2057400"/>
            <a:ext cx="54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code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294127" y="2057400"/>
            <a:ext cx="649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Active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79416" y="2057400"/>
            <a:ext cx="473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Edit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10714" y="2057400"/>
            <a:ext cx="528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Save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91400" y="2054423"/>
            <a:ext cx="671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Delete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67966" y="2054423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Tracking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1752600" y="2665412"/>
            <a:ext cx="731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rot="5400000">
            <a:off x="2057400" y="23622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5400000">
            <a:off x="31249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rot="5400000">
            <a:off x="48775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rot="5400000">
            <a:off x="57157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5400000">
            <a:off x="6325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rot="5400000">
            <a:off x="70111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rot="5400000">
            <a:off x="7849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038600" y="1219200"/>
            <a:ext cx="11767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State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419600" y="2057400"/>
            <a:ext cx="778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Country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 rot="5400000">
            <a:off x="39631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752600" y="2057400"/>
            <a:ext cx="73914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148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35" name="TextBox 34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37" name="TextBox 36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-76200" y="1295400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Master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52400" y="1606473"/>
            <a:ext cx="157331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Consultant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Procedure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Referral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Department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Specialization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Units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Services Type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Country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State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District/City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Mandal/Area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Village/Place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Certificate Master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52600" y="205442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S.No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505200" y="1600201"/>
            <a:ext cx="2438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4" name="TextBox 43"/>
          <p:cNvSpPr txBox="1"/>
          <p:nvPr/>
        </p:nvSpPr>
        <p:spPr>
          <a:xfrm>
            <a:off x="6019800" y="1600200"/>
            <a:ext cx="609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Search</a:t>
            </a:r>
            <a:endParaRPr lang="en-IN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1828800" y="1600201"/>
            <a:ext cx="11430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Add New District</a:t>
            </a:r>
            <a:endParaRPr lang="en-IN" sz="1000" dirty="0"/>
          </a:p>
        </p:txBody>
      </p:sp>
      <p:sp>
        <p:nvSpPr>
          <p:cNvPr id="46" name="TextBox 45"/>
          <p:cNvSpPr txBox="1"/>
          <p:nvPr/>
        </p:nvSpPr>
        <p:spPr>
          <a:xfrm>
            <a:off x="2421917" y="2057400"/>
            <a:ext cx="722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District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05200" y="2057400"/>
            <a:ext cx="54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code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294127" y="2057400"/>
            <a:ext cx="649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Active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79416" y="2057400"/>
            <a:ext cx="473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Edit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10714" y="2057400"/>
            <a:ext cx="528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Save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91400" y="2054423"/>
            <a:ext cx="671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Delete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67966" y="2054423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Tracking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1752600" y="2665412"/>
            <a:ext cx="731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rot="5400000">
            <a:off x="2057400" y="23622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5400000">
            <a:off x="31249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rot="5400000">
            <a:off x="48775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rot="5400000">
            <a:off x="57157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5400000">
            <a:off x="6325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rot="5400000">
            <a:off x="70111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rot="5400000">
            <a:off x="7849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038600" y="1219200"/>
            <a:ext cx="13326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District 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419600" y="2057400"/>
            <a:ext cx="567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State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 rot="5400000">
            <a:off x="39631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343400" y="2359223"/>
            <a:ext cx="7729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b="1" dirty="0" smtClean="0">
                <a:solidFill>
                  <a:schemeClr val="bg2">
                    <a:lumMod val="90000"/>
                  </a:schemeClr>
                </a:solidFill>
              </a:rPr>
              <a:t>Master date</a:t>
            </a:r>
            <a:endParaRPr lang="en-IN" sz="9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752600" y="2057400"/>
            <a:ext cx="73914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4196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35" name="TextBox 34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37" name="TextBox 36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-76200" y="1295400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Master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52400" y="1606473"/>
            <a:ext cx="157331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Consultant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Procedure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Referral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Department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Specialization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Units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Services Type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Country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State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District/City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Mandal/Area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Village/Place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Certificate Master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52600" y="205442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S.No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505200" y="1600201"/>
            <a:ext cx="2438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4" name="TextBox 43"/>
          <p:cNvSpPr txBox="1"/>
          <p:nvPr/>
        </p:nvSpPr>
        <p:spPr>
          <a:xfrm>
            <a:off x="6019800" y="1600200"/>
            <a:ext cx="609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Search</a:t>
            </a:r>
            <a:endParaRPr lang="en-IN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1828800" y="1600201"/>
            <a:ext cx="11430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Add New Mandal</a:t>
            </a:r>
            <a:endParaRPr lang="en-IN" sz="1000" dirty="0"/>
          </a:p>
        </p:txBody>
      </p:sp>
      <p:sp>
        <p:nvSpPr>
          <p:cNvPr id="46" name="TextBox 45"/>
          <p:cNvSpPr txBox="1"/>
          <p:nvPr/>
        </p:nvSpPr>
        <p:spPr>
          <a:xfrm>
            <a:off x="2421917" y="2057400"/>
            <a:ext cx="7553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/>
              <a:t>Mandal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05200" y="2057400"/>
            <a:ext cx="54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code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294127" y="2057400"/>
            <a:ext cx="649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Active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79416" y="2057400"/>
            <a:ext cx="473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Edit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10714" y="2057400"/>
            <a:ext cx="528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Save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91400" y="2054423"/>
            <a:ext cx="671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Delete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67966" y="2054423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Tracking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1752600" y="2665412"/>
            <a:ext cx="731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rot="5400000">
            <a:off x="2057400" y="23622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5400000">
            <a:off x="31249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rot="5400000">
            <a:off x="48775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rot="5400000">
            <a:off x="57157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5400000">
            <a:off x="6325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rot="5400000">
            <a:off x="70111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rot="5400000">
            <a:off x="7849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038600" y="1219200"/>
            <a:ext cx="17431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Mandal/Area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419600" y="2057400"/>
            <a:ext cx="722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District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 rot="5400000">
            <a:off x="39631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343400" y="2359223"/>
            <a:ext cx="7729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b="1" dirty="0" smtClean="0">
                <a:solidFill>
                  <a:schemeClr val="bg2">
                    <a:lumMod val="90000"/>
                  </a:schemeClr>
                </a:solidFill>
              </a:rPr>
              <a:t>Master date</a:t>
            </a:r>
            <a:endParaRPr lang="en-IN" sz="9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752600" y="2057400"/>
            <a:ext cx="73914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7244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35" name="TextBox 34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37" name="TextBox 36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-76200" y="1295400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Master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52400" y="1606473"/>
            <a:ext cx="157331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Consultant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Procedure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Referral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Department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Specialization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Units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Services Type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Country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State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District/City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Mandal/Area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Village/Place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Certificate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Marketing Executive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52600" y="205442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S.No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505200" y="1600201"/>
            <a:ext cx="2438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4" name="TextBox 43"/>
          <p:cNvSpPr txBox="1"/>
          <p:nvPr/>
        </p:nvSpPr>
        <p:spPr>
          <a:xfrm>
            <a:off x="6019800" y="1600200"/>
            <a:ext cx="609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Search</a:t>
            </a:r>
            <a:endParaRPr lang="en-IN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1828800" y="1600201"/>
            <a:ext cx="11430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Add New Mandal</a:t>
            </a:r>
            <a:endParaRPr lang="en-IN" sz="1000" dirty="0"/>
          </a:p>
        </p:txBody>
      </p:sp>
      <p:sp>
        <p:nvSpPr>
          <p:cNvPr id="46" name="TextBox 45"/>
          <p:cNvSpPr txBox="1"/>
          <p:nvPr/>
        </p:nvSpPr>
        <p:spPr>
          <a:xfrm>
            <a:off x="2421917" y="2057400"/>
            <a:ext cx="686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Village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05200" y="2057400"/>
            <a:ext cx="54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code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294127" y="2057400"/>
            <a:ext cx="649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Active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79416" y="2057400"/>
            <a:ext cx="473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Edit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10714" y="2057400"/>
            <a:ext cx="528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Save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91400" y="2054423"/>
            <a:ext cx="671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Delete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67966" y="2054423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Tracking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1752600" y="2665412"/>
            <a:ext cx="731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rot="5400000">
            <a:off x="2057400" y="23622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5400000">
            <a:off x="31249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rot="5400000">
            <a:off x="48775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rot="5400000">
            <a:off x="57157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5400000">
            <a:off x="6325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rot="5400000">
            <a:off x="70111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rot="5400000">
            <a:off x="7849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038600" y="1219200"/>
            <a:ext cx="1727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Village/Place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419600" y="2057400"/>
            <a:ext cx="7553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Mandal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 rot="5400000">
            <a:off x="39631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343400" y="2359223"/>
            <a:ext cx="7729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b="1" dirty="0" smtClean="0">
                <a:solidFill>
                  <a:schemeClr val="bg2">
                    <a:lumMod val="90000"/>
                  </a:schemeClr>
                </a:solidFill>
              </a:rPr>
              <a:t>Master date</a:t>
            </a:r>
            <a:endParaRPr lang="en-IN" sz="9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49530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-76200" y="1295400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Master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2400" y="1606473"/>
            <a:ext cx="157331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Consultant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Procedure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Referral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Department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Specialization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Units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Services Type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Country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State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District/City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Mandal/Area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Village/Place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Certificate Master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752600" y="1216223"/>
            <a:ext cx="15221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Certificate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4290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41" name="TextBox 40"/>
          <p:cNvSpPr txBox="1"/>
          <p:nvPr/>
        </p:nvSpPr>
        <p:spPr>
          <a:xfrm>
            <a:off x="39624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42" name="TextBox 41"/>
          <p:cNvSpPr txBox="1"/>
          <p:nvPr/>
        </p:nvSpPr>
        <p:spPr>
          <a:xfrm>
            <a:off x="44958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43" name="TextBox 42"/>
          <p:cNvSpPr txBox="1"/>
          <p:nvPr/>
        </p:nvSpPr>
        <p:spPr>
          <a:xfrm>
            <a:off x="5029200" y="12192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44" name="TextBox 43"/>
          <p:cNvSpPr txBox="1"/>
          <p:nvPr/>
        </p:nvSpPr>
        <p:spPr>
          <a:xfrm>
            <a:off x="5791200" y="12192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45" name="TextBox 44"/>
          <p:cNvSpPr txBox="1"/>
          <p:nvPr/>
        </p:nvSpPr>
        <p:spPr>
          <a:xfrm>
            <a:off x="6629400" y="123235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sp>
        <p:nvSpPr>
          <p:cNvPr id="46" name="Rectangle 45"/>
          <p:cNvSpPr/>
          <p:nvPr/>
        </p:nvSpPr>
        <p:spPr>
          <a:xfrm>
            <a:off x="5791200" y="1600200"/>
            <a:ext cx="13716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Present date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895600" y="1597707"/>
            <a:ext cx="2057400" cy="23109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From Date 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752600" y="1447800"/>
            <a:ext cx="1107996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Certificate 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1447800"/>
            <a:ext cx="763351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Entry Date</a:t>
            </a:r>
          </a:p>
        </p:txBody>
      </p:sp>
      <p:cxnSp>
        <p:nvCxnSpPr>
          <p:cNvPr id="50" name="Straight Connector 49"/>
          <p:cNvCxnSpPr/>
          <p:nvPr/>
        </p:nvCxnSpPr>
        <p:spPr>
          <a:xfrm rot="16200000" flipH="1">
            <a:off x="3886201" y="36576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certific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1" y="2362200"/>
            <a:ext cx="5562600" cy="34099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200400" y="1915770"/>
            <a:ext cx="52450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Active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95600" y="20574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315200" y="1447801"/>
            <a:ext cx="18288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Certificates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0" y="1752600"/>
            <a:ext cx="1143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Name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8534400" y="1752600"/>
            <a:ext cx="533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 smtClean="0">
                <a:solidFill>
                  <a:schemeClr val="bg1"/>
                </a:solidFill>
              </a:rPr>
              <a:t>Search</a:t>
            </a:r>
            <a:endParaRPr lang="en-IN" sz="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578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-76200" y="1295400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Master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400" y="1606473"/>
            <a:ext cx="157331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Consultant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Procedure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Referral Doctor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Department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Specialization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Units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Services Type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Country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State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District/City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Mandal/Area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Village/Place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Certificate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Marketing Executive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52600" y="1216223"/>
            <a:ext cx="17723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Marketing Executives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52600" y="15108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2286000" y="15108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2819400" y="15108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19" name="TextBox 18"/>
          <p:cNvSpPr txBox="1"/>
          <p:nvPr/>
        </p:nvSpPr>
        <p:spPr>
          <a:xfrm>
            <a:off x="3352800" y="1510844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20" name="TextBox 19"/>
          <p:cNvSpPr txBox="1"/>
          <p:nvPr/>
        </p:nvSpPr>
        <p:spPr>
          <a:xfrm>
            <a:off x="4114800" y="1510844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21" name="TextBox 20"/>
          <p:cNvSpPr txBox="1"/>
          <p:nvPr/>
        </p:nvSpPr>
        <p:spPr>
          <a:xfrm>
            <a:off x="4953000" y="15240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cxnSp>
        <p:nvCxnSpPr>
          <p:cNvPr id="26" name="Straight Connector 25"/>
          <p:cNvCxnSpPr/>
          <p:nvPr/>
        </p:nvCxnSpPr>
        <p:spPr>
          <a:xfrm rot="16200000" flipH="1">
            <a:off x="2209801" y="3962398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15000" y="1524001"/>
            <a:ext cx="34290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Marketing Persons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0" y="1828800"/>
            <a:ext cx="2362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Name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153400" y="1828800"/>
            <a:ext cx="8382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 smtClean="0">
                <a:solidFill>
                  <a:schemeClr val="bg1"/>
                </a:solidFill>
              </a:rPr>
              <a:t>Search</a:t>
            </a: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819400" y="2212293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/>
          <p:cNvSpPr/>
          <p:nvPr/>
        </p:nvSpPr>
        <p:spPr>
          <a:xfrm>
            <a:off x="2819400" y="25406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/>
          <p:cNvSpPr/>
          <p:nvPr/>
        </p:nvSpPr>
        <p:spPr>
          <a:xfrm>
            <a:off x="2819400" y="2898093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/>
          <p:cNvSpPr/>
          <p:nvPr/>
        </p:nvSpPr>
        <p:spPr>
          <a:xfrm>
            <a:off x="2819400" y="1905000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1752600" y="1752600"/>
            <a:ext cx="91723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Person Name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Mobile No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Mail Id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DOB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85497" y="4735170"/>
            <a:ext cx="52450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Active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80697" y="488757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752600" y="3092440"/>
            <a:ext cx="939681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Address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Area/Village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Place/Mandal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City/District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State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19400" y="3276600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Rectangle 42"/>
          <p:cNvSpPr/>
          <p:nvPr/>
        </p:nvSpPr>
        <p:spPr>
          <a:xfrm>
            <a:off x="2819400" y="3583893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4" name="Rectangle 43"/>
          <p:cNvSpPr/>
          <p:nvPr/>
        </p:nvSpPr>
        <p:spPr>
          <a:xfrm>
            <a:off x="2819400" y="3886200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Rectangle 44"/>
          <p:cNvSpPr/>
          <p:nvPr/>
        </p:nvSpPr>
        <p:spPr>
          <a:xfrm>
            <a:off x="2819400" y="4191000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6" name="Rectangle 45"/>
          <p:cNvSpPr/>
          <p:nvPr/>
        </p:nvSpPr>
        <p:spPr>
          <a:xfrm>
            <a:off x="2819400" y="4495800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240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3" name="Rectangle 12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52600" y="1216223"/>
            <a:ext cx="1822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Appointment Booking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22" name="TextBox 21"/>
          <p:cNvSpPr txBox="1"/>
          <p:nvPr/>
        </p:nvSpPr>
        <p:spPr>
          <a:xfrm>
            <a:off x="41910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23" name="TextBox 22"/>
          <p:cNvSpPr txBox="1"/>
          <p:nvPr/>
        </p:nvSpPr>
        <p:spPr>
          <a:xfrm>
            <a:off x="47244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24" name="TextBox 23"/>
          <p:cNvSpPr txBox="1"/>
          <p:nvPr/>
        </p:nvSpPr>
        <p:spPr>
          <a:xfrm>
            <a:off x="5257800" y="12192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25" name="TextBox 24"/>
          <p:cNvSpPr txBox="1"/>
          <p:nvPr/>
        </p:nvSpPr>
        <p:spPr>
          <a:xfrm>
            <a:off x="6019800" y="12192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26" name="TextBox 25"/>
          <p:cNvSpPr txBox="1"/>
          <p:nvPr/>
        </p:nvSpPr>
        <p:spPr>
          <a:xfrm>
            <a:off x="6858000" y="123235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sp>
        <p:nvSpPr>
          <p:cNvPr id="41" name="TextBox 40"/>
          <p:cNvSpPr txBox="1"/>
          <p:nvPr/>
        </p:nvSpPr>
        <p:spPr>
          <a:xfrm>
            <a:off x="0" y="1066800"/>
            <a:ext cx="1701684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 smtClean="0"/>
              <a:t>Appointments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9638" y="1438997"/>
            <a:ext cx="151676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Appointment Booking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Appointment 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52600" y="1764901"/>
            <a:ext cx="1679377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Mobile No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Patient Name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Patient Age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Relation Name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Relation Age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Marital Status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Address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Complainants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Appointment Date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Appointment Doctor 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10000" y="20574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Patient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124200" y="20574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10200" y="20574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Sur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124200" y="2286000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Age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410200" y="22860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Male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124200" y="3276600"/>
            <a:ext cx="3276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Address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800600" y="2260684"/>
            <a:ext cx="5982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Gender</a:t>
            </a:r>
            <a:endParaRPr lang="en-IN" sz="1050" b="1" dirty="0"/>
          </a:p>
        </p:txBody>
      </p:sp>
      <p:sp>
        <p:nvSpPr>
          <p:cNvPr id="51" name="Rectangle 50"/>
          <p:cNvSpPr/>
          <p:nvPr/>
        </p:nvSpPr>
        <p:spPr>
          <a:xfrm>
            <a:off x="4038600" y="2286000"/>
            <a:ext cx="762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Years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810000" y="25146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Relation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124200" y="25146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S/o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124200" y="3048000"/>
            <a:ext cx="1676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Married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124200" y="3505200"/>
            <a:ext cx="3276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Chief Complaints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410200" y="25146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Sur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124200" y="2768516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Age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410200" y="2768516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Male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800600" y="2717884"/>
            <a:ext cx="5982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Gender</a:t>
            </a:r>
            <a:endParaRPr lang="en-IN" sz="1050" b="1" dirty="0"/>
          </a:p>
        </p:txBody>
      </p:sp>
      <p:sp>
        <p:nvSpPr>
          <p:cNvPr id="60" name="Rectangle 59"/>
          <p:cNvSpPr/>
          <p:nvPr/>
        </p:nvSpPr>
        <p:spPr>
          <a:xfrm>
            <a:off x="4038600" y="2768516"/>
            <a:ext cx="762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Years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124200" y="1828800"/>
            <a:ext cx="1295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2" name="Straight Connector 61"/>
          <p:cNvCxnSpPr/>
          <p:nvPr/>
        </p:nvCxnSpPr>
        <p:spPr>
          <a:xfrm rot="16200000" flipH="1">
            <a:off x="3352801" y="35052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3124200" y="3810000"/>
            <a:ext cx="3276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Appointment Date &amp; Time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3124200" y="4038600"/>
            <a:ext cx="3276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Appointment Doctor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752600" y="1447800"/>
            <a:ext cx="16240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 smtClean="0">
                <a:solidFill>
                  <a:srgbClr val="FF0000"/>
                </a:solidFill>
              </a:rPr>
              <a:t>Appointment No : 2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105400" y="1828800"/>
            <a:ext cx="1295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7" name="TextBox 66"/>
          <p:cNvSpPr txBox="1"/>
          <p:nvPr/>
        </p:nvSpPr>
        <p:spPr>
          <a:xfrm>
            <a:off x="4627384" y="1803484"/>
            <a:ext cx="4780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UHID</a:t>
            </a:r>
            <a:endParaRPr lang="en-IN" sz="1050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4953000" y="1490990"/>
            <a:ext cx="18213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/>
              <a:t>Date : 17/02/2024 18:09 pm</a:t>
            </a:r>
            <a:endParaRPr lang="en-IN" sz="1100" dirty="0"/>
          </a:p>
        </p:txBody>
      </p:sp>
      <p:sp>
        <p:nvSpPr>
          <p:cNvPr id="69" name="TextBox 68"/>
          <p:cNvSpPr txBox="1"/>
          <p:nvPr/>
        </p:nvSpPr>
        <p:spPr>
          <a:xfrm>
            <a:off x="6858000" y="1447801"/>
            <a:ext cx="22860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Appointments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58000" y="1752600"/>
            <a:ext cx="2286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Between Dates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858000" y="1981200"/>
            <a:ext cx="2286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Search Type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858000" y="2209800"/>
            <a:ext cx="1600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Name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610600" y="2209800"/>
            <a:ext cx="533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526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1" name="Rectangle 10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52600" y="1216223"/>
            <a:ext cx="1679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Appointment Status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1066800"/>
            <a:ext cx="1701684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 smtClean="0"/>
              <a:t>Appointments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638" y="1438997"/>
            <a:ext cx="151676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Appointment Booking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Appointment Status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2800" y="1219200"/>
            <a:ext cx="18213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/>
              <a:t>Date : 17/02/2024 18:09 pm</a:t>
            </a:r>
            <a:endParaRPr lang="en-IN" sz="1100" dirty="0"/>
          </a:p>
        </p:txBody>
      </p:sp>
      <p:sp>
        <p:nvSpPr>
          <p:cNvPr id="52" name="TextBox 51"/>
          <p:cNvSpPr txBox="1"/>
          <p:nvPr/>
        </p:nvSpPr>
        <p:spPr>
          <a:xfrm>
            <a:off x="1752600" y="1524000"/>
            <a:ext cx="1731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All Appointments (2)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828800" y="1828800"/>
            <a:ext cx="1600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bg2">
                    <a:lumMod val="90000"/>
                  </a:schemeClr>
                </a:solidFill>
              </a:rPr>
              <a:t>Select Doctor </a:t>
            </a:r>
            <a:endParaRPr lang="en-IN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733800" y="2895600"/>
            <a:ext cx="1600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bg2">
                    <a:lumMod val="90000"/>
                  </a:schemeClr>
                </a:solidFill>
              </a:rPr>
              <a:t>Calendar</a:t>
            </a:r>
            <a:endParaRPr lang="en-IN" sz="14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002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1135329"/>
            <a:ext cx="1285929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 smtClean="0"/>
              <a:t>Expenses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638" y="1533436"/>
            <a:ext cx="12939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Expenses Entry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Expenses Paid To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Expenses Purpose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Expenses Type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2600" y="1222177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752600" y="1219200"/>
            <a:ext cx="1305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Expenses Entry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57600" y="1222177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47" name="TextBox 46"/>
          <p:cNvSpPr txBox="1"/>
          <p:nvPr/>
        </p:nvSpPr>
        <p:spPr>
          <a:xfrm>
            <a:off x="4191000" y="1222177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48" name="TextBox 47"/>
          <p:cNvSpPr txBox="1"/>
          <p:nvPr/>
        </p:nvSpPr>
        <p:spPr>
          <a:xfrm>
            <a:off x="4724400" y="1222177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49" name="TextBox 48"/>
          <p:cNvSpPr txBox="1"/>
          <p:nvPr/>
        </p:nvSpPr>
        <p:spPr>
          <a:xfrm>
            <a:off x="5257800" y="1222177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50" name="TextBox 49"/>
          <p:cNvSpPr txBox="1"/>
          <p:nvPr/>
        </p:nvSpPr>
        <p:spPr>
          <a:xfrm>
            <a:off x="6019800" y="1222177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51" name="TextBox 50"/>
          <p:cNvSpPr txBox="1"/>
          <p:nvPr/>
        </p:nvSpPr>
        <p:spPr>
          <a:xfrm>
            <a:off x="1752600" y="1524000"/>
            <a:ext cx="9845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Expenses Type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Paid Date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Paid To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Paid Amount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Purpose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Description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1943578"/>
            <a:ext cx="2057400" cy="19549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Today Date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743200" y="2271960"/>
            <a:ext cx="2057400" cy="19549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Manual /master data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743200" y="2623908"/>
            <a:ext cx="2057400" cy="19549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6" name="Rectangle 55"/>
          <p:cNvSpPr/>
          <p:nvPr/>
        </p:nvSpPr>
        <p:spPr>
          <a:xfrm>
            <a:off x="2743200" y="1636285"/>
            <a:ext cx="2057400" cy="19549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Master Data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743200" y="3200400"/>
            <a:ext cx="2057400" cy="50029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" name="Rectangle 57"/>
          <p:cNvSpPr/>
          <p:nvPr/>
        </p:nvSpPr>
        <p:spPr>
          <a:xfrm>
            <a:off x="2743200" y="2928708"/>
            <a:ext cx="2057400" cy="19549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Master Data 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858000" y="1235333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sp>
        <p:nvSpPr>
          <p:cNvPr id="65" name="TextBox 64"/>
          <p:cNvSpPr txBox="1"/>
          <p:nvPr/>
        </p:nvSpPr>
        <p:spPr>
          <a:xfrm>
            <a:off x="7620000" y="1222177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Back</a:t>
            </a:r>
            <a:endParaRPr lang="en-IN" sz="800" dirty="0"/>
          </a:p>
        </p:txBody>
      </p:sp>
      <p:sp>
        <p:nvSpPr>
          <p:cNvPr id="69" name="TextBox 68"/>
          <p:cNvSpPr txBox="1"/>
          <p:nvPr/>
        </p:nvSpPr>
        <p:spPr>
          <a:xfrm>
            <a:off x="6858000" y="1526977"/>
            <a:ext cx="22860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Expenses Entry</a:t>
            </a:r>
            <a:endParaRPr lang="en-IN" sz="1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858000" y="2057400"/>
            <a:ext cx="1600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Search Type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8534400" y="2057400"/>
            <a:ext cx="6096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  <p:cxnSp>
        <p:nvCxnSpPr>
          <p:cNvPr id="100" name="Straight Connector 99"/>
          <p:cNvCxnSpPr/>
          <p:nvPr/>
        </p:nvCxnSpPr>
        <p:spPr>
          <a:xfrm rot="16200000" flipH="1">
            <a:off x="3352801" y="34290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4876800" y="344215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Submit</a:t>
            </a:r>
            <a:endParaRPr lang="en-IN" sz="800" dirty="0"/>
          </a:p>
        </p:txBody>
      </p:sp>
      <p:sp>
        <p:nvSpPr>
          <p:cNvPr id="102" name="TextBox 101"/>
          <p:cNvSpPr txBox="1"/>
          <p:nvPr/>
        </p:nvSpPr>
        <p:spPr>
          <a:xfrm>
            <a:off x="4800600" y="1524000"/>
            <a:ext cx="8322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Voucher No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Paid By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76800" y="2908756"/>
            <a:ext cx="685800" cy="21544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>
                <a:solidFill>
                  <a:sysClr val="windowText" lastClr="000000"/>
                </a:solidFill>
              </a:rPr>
              <a:t>Add</a:t>
            </a:r>
            <a:endParaRPr lang="en-IN" sz="800" dirty="0">
              <a:solidFill>
                <a:sysClr val="windowText" lastClr="000000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858000" y="1811179"/>
            <a:ext cx="2286000" cy="24622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bg2">
                    <a:lumMod val="90000"/>
                  </a:schemeClr>
                </a:solidFill>
              </a:rPr>
              <a:t>Between dates</a:t>
            </a:r>
            <a:endParaRPr lang="en-IN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5638800" y="1981200"/>
            <a:ext cx="1066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90000"/>
                  </a:schemeClr>
                </a:solidFill>
              </a:rPr>
              <a:t>User Name</a:t>
            </a:r>
            <a:endParaRPr lang="en-IN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5638800" y="1673907"/>
            <a:ext cx="1066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no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1752600" y="4114800"/>
            <a:ext cx="50292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1" name="Rectangle 110"/>
          <p:cNvSpPr/>
          <p:nvPr/>
        </p:nvSpPr>
        <p:spPr>
          <a:xfrm>
            <a:off x="1752600" y="3810000"/>
            <a:ext cx="5029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3" name="Straight Connector 112"/>
          <p:cNvCxnSpPr/>
          <p:nvPr/>
        </p:nvCxnSpPr>
        <p:spPr>
          <a:xfrm rot="5400000">
            <a:off x="1676400" y="4267200"/>
            <a:ext cx="914400" cy="158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 rot="5400000">
            <a:off x="2818606" y="4266406"/>
            <a:ext cx="914400" cy="158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rot="5400000">
            <a:off x="3810794" y="4266406"/>
            <a:ext cx="914400" cy="158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rot="5400000">
            <a:off x="4723606" y="4266406"/>
            <a:ext cx="914400" cy="158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rot="5400000">
            <a:off x="5638006" y="4266406"/>
            <a:ext cx="914400" cy="158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711690" y="3733800"/>
            <a:ext cx="421910" cy="357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00" dirty="0" err="1" smtClean="0">
                <a:solidFill>
                  <a:schemeClr val="bg2">
                    <a:lumMod val="75000"/>
                  </a:schemeClr>
                </a:solidFill>
              </a:rPr>
              <a:t>S.no</a:t>
            </a:r>
            <a:endParaRPr lang="en-IN" sz="1000" dirty="0" smtClean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2438400" y="3733800"/>
            <a:ext cx="685800" cy="357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Paid To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505200" y="3733800"/>
            <a:ext cx="685800" cy="357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Paid Amt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267200" y="3733800"/>
            <a:ext cx="685800" cy="357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Purpose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257800" y="3733800"/>
            <a:ext cx="685800" cy="357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Paid Date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096000" y="3733800"/>
            <a:ext cx="685800" cy="357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Delete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752600" y="4800600"/>
            <a:ext cx="93326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Total Amount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Remarks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19400" y="5257800"/>
            <a:ext cx="3200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90000"/>
                  </a:schemeClr>
                </a:solidFill>
              </a:rPr>
              <a:t>User Name</a:t>
            </a:r>
            <a:endParaRPr lang="en-IN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2819400" y="4950507"/>
            <a:ext cx="1066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Total Amt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4876800" y="2286000"/>
            <a:ext cx="685800" cy="21544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>
                <a:solidFill>
                  <a:sysClr val="windowText" lastClr="000000"/>
                </a:solidFill>
              </a:rPr>
              <a:t>Add</a:t>
            </a:r>
            <a:endParaRPr lang="en-IN" sz="800" dirty="0">
              <a:solidFill>
                <a:sysClr val="windowText" lastClr="000000"/>
              </a:solidFill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3962400" y="4800600"/>
            <a:ext cx="73289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Pay Mode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724400" y="4953000"/>
            <a:ext cx="1295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Cash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18288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1752600" y="2057400"/>
            <a:ext cx="73914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0" name="Rectangle 9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52600" y="205442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S.No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505200" y="1600201"/>
            <a:ext cx="2438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019800" y="1600200"/>
            <a:ext cx="609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Search</a:t>
            </a:r>
            <a:endParaRPr lang="en-IN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0" y="1600201"/>
            <a:ext cx="11430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New Paid To</a:t>
            </a:r>
            <a:endParaRPr lang="en-IN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2421917" y="2057400"/>
            <a:ext cx="7154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Paid To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91000" y="2057400"/>
            <a:ext cx="54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code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94127" y="2057400"/>
            <a:ext cx="649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Active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79416" y="2057400"/>
            <a:ext cx="473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Edit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10714" y="2057400"/>
            <a:ext cx="528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Save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91400" y="2054423"/>
            <a:ext cx="671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Delete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67966" y="2054423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Tracking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1752600" y="2665412"/>
            <a:ext cx="731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>
            <a:off x="2057400" y="23622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3658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>
            <a:off x="48775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57157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6325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5400000">
            <a:off x="70111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5400000">
            <a:off x="7849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38600" y="1219200"/>
            <a:ext cx="2011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Expenses Paid To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0" y="1135329"/>
            <a:ext cx="1285929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 smtClean="0"/>
              <a:t>Expenses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9638" y="1533436"/>
            <a:ext cx="12939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Expenses Entry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Expenses Paid To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Expenses Purpose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Expenses Type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336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752600" y="2057400"/>
            <a:ext cx="73914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1" name="Rectangle 10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52600" y="205442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S.No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505200" y="1600201"/>
            <a:ext cx="2438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019800" y="1600200"/>
            <a:ext cx="609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Search</a:t>
            </a:r>
            <a:endParaRPr lang="en-IN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1828800" y="1600201"/>
            <a:ext cx="11430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New Purpose</a:t>
            </a:r>
            <a:endParaRPr lang="en-IN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2421917" y="2057400"/>
            <a:ext cx="795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Purpose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91000" y="2057400"/>
            <a:ext cx="54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code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94127" y="2057400"/>
            <a:ext cx="649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Active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79416" y="2057400"/>
            <a:ext cx="473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Edit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10714" y="2057400"/>
            <a:ext cx="528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Save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91400" y="2054423"/>
            <a:ext cx="671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Delete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67966" y="2054423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Tracking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752600" y="2665412"/>
            <a:ext cx="731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2057400" y="23622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>
            <a:off x="3658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48775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7157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5400000">
            <a:off x="6325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5400000">
            <a:off x="70111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7849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038600" y="1219200"/>
            <a:ext cx="2300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Expenses Purpose To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0" y="1135329"/>
            <a:ext cx="1285929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 smtClean="0"/>
              <a:t>Expenses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9638" y="1533436"/>
            <a:ext cx="12939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Expenses Entry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Expenses Paid To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Expenses Purpose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Expenses Type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622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752600" y="2057400"/>
            <a:ext cx="73914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1" name="Rectangle 10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52600" y="205442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S.No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505200" y="1600201"/>
            <a:ext cx="2438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019800" y="1600200"/>
            <a:ext cx="609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Search</a:t>
            </a:r>
            <a:endParaRPr lang="en-IN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1828800" y="1600201"/>
            <a:ext cx="1371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New Expenses Type</a:t>
            </a:r>
            <a:endParaRPr lang="en-IN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2421917" y="2057400"/>
            <a:ext cx="1264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Expenses Type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91000" y="2057400"/>
            <a:ext cx="54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code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94127" y="2057400"/>
            <a:ext cx="649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Active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79416" y="2057400"/>
            <a:ext cx="473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Edit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10714" y="2057400"/>
            <a:ext cx="528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Save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91400" y="2054423"/>
            <a:ext cx="671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Delete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67966" y="2054423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Tracking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752600" y="2665412"/>
            <a:ext cx="731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2057400" y="23622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>
            <a:off x="3658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48775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7157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5400000">
            <a:off x="6325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5400000">
            <a:off x="70111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7849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038600" y="1219200"/>
            <a:ext cx="183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Expenses Type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0" y="1135329"/>
            <a:ext cx="1285929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 smtClean="0"/>
              <a:t>Expenses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9638" y="1533436"/>
            <a:ext cx="12939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Expenses Entry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Expenses Paid To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Expenses Purpose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Expenses Type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-76200" y="1135329"/>
            <a:ext cx="1887953" cy="423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600" dirty="0" smtClean="0"/>
              <a:t> Insurance Master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9638" y="1533436"/>
            <a:ext cx="1569660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Pay Category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Insurance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Sub Insurance Master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38" name="TextBox 37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40" name="TextBox 39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41" name="TextBox 40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96" name="Rectangle 95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676400" y="1216223"/>
            <a:ext cx="1465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Insurance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2667000" y="19310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9" name="Rectangle 98"/>
          <p:cNvSpPr/>
          <p:nvPr/>
        </p:nvSpPr>
        <p:spPr>
          <a:xfrm>
            <a:off x="2667000" y="2259457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0" name="Rectangle 99"/>
          <p:cNvSpPr/>
          <p:nvPr/>
        </p:nvSpPr>
        <p:spPr>
          <a:xfrm>
            <a:off x="2667000" y="2616875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1" name="Rectangle 100"/>
          <p:cNvSpPr/>
          <p:nvPr/>
        </p:nvSpPr>
        <p:spPr>
          <a:xfrm>
            <a:off x="2667000" y="29191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2" name="Rectangle 101"/>
          <p:cNvSpPr/>
          <p:nvPr/>
        </p:nvSpPr>
        <p:spPr>
          <a:xfrm>
            <a:off x="2667000" y="1623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3" name="TextBox 102"/>
          <p:cNvSpPr txBox="1"/>
          <p:nvPr/>
        </p:nvSpPr>
        <p:spPr>
          <a:xfrm>
            <a:off x="1686500" y="1447800"/>
            <a:ext cx="1056700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Company Name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Contact Person 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Mobile No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Email Id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Address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Village/Place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Mandal/Area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District/City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State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Country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290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105" name="TextBox 104"/>
          <p:cNvSpPr txBox="1"/>
          <p:nvPr/>
        </p:nvSpPr>
        <p:spPr>
          <a:xfrm>
            <a:off x="40386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106" name="TextBox 105"/>
          <p:cNvSpPr txBox="1"/>
          <p:nvPr/>
        </p:nvSpPr>
        <p:spPr>
          <a:xfrm>
            <a:off x="45720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107" name="TextBox 106"/>
          <p:cNvSpPr txBox="1"/>
          <p:nvPr/>
        </p:nvSpPr>
        <p:spPr>
          <a:xfrm>
            <a:off x="5181600" y="12192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108" name="TextBox 107"/>
          <p:cNvSpPr txBox="1"/>
          <p:nvPr/>
        </p:nvSpPr>
        <p:spPr>
          <a:xfrm>
            <a:off x="6019800" y="12192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117" name="Rectangle 116"/>
          <p:cNvSpPr/>
          <p:nvPr/>
        </p:nvSpPr>
        <p:spPr>
          <a:xfrm>
            <a:off x="2667000" y="32239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8" name="Rectangle 117"/>
          <p:cNvSpPr/>
          <p:nvPr/>
        </p:nvSpPr>
        <p:spPr>
          <a:xfrm>
            <a:off x="2667000" y="3505200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3" name="Rectangle 122"/>
          <p:cNvSpPr/>
          <p:nvPr/>
        </p:nvSpPr>
        <p:spPr>
          <a:xfrm>
            <a:off x="2667000" y="3909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4" name="Rectangle 123"/>
          <p:cNvSpPr/>
          <p:nvPr/>
        </p:nvSpPr>
        <p:spPr>
          <a:xfrm>
            <a:off x="2667000" y="42145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5" name="Rectangle 124"/>
          <p:cNvSpPr/>
          <p:nvPr/>
        </p:nvSpPr>
        <p:spPr>
          <a:xfrm>
            <a:off x="2667000" y="4495800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6" name="TextBox 125"/>
          <p:cNvSpPr txBox="1"/>
          <p:nvPr/>
        </p:nvSpPr>
        <p:spPr>
          <a:xfrm>
            <a:off x="6858000" y="12192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sp>
        <p:nvSpPr>
          <p:cNvPr id="131" name="Rectangle 130"/>
          <p:cNvSpPr/>
          <p:nvPr/>
        </p:nvSpPr>
        <p:spPr>
          <a:xfrm>
            <a:off x="5410200" y="1931075"/>
            <a:ext cx="13716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Master data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5410200" y="2259457"/>
            <a:ext cx="13716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90000"/>
                  </a:schemeClr>
                </a:solidFill>
              </a:rPr>
              <a:t>Master data</a:t>
            </a:r>
            <a:endParaRPr lang="en-IN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5410200" y="2616875"/>
            <a:ext cx="13716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Master data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5410200" y="1623782"/>
            <a:ext cx="13716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Master data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4267200" y="1447800"/>
            <a:ext cx="121058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Consultant Tariff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Investigation Tariff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Services Tariff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Room tariff </a:t>
            </a:r>
          </a:p>
        </p:txBody>
      </p:sp>
      <p:cxnSp>
        <p:nvCxnSpPr>
          <p:cNvPr id="142" name="Straight Connector 141"/>
          <p:cNvCxnSpPr/>
          <p:nvPr/>
        </p:nvCxnSpPr>
        <p:spPr>
          <a:xfrm rot="16200000" flipH="1">
            <a:off x="3429001" y="28956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5715000" y="2819400"/>
            <a:ext cx="52450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Active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410200" y="29718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5715000" y="3124200"/>
            <a:ext cx="1080745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Credit Insurance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410200" y="3276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858000" y="1447801"/>
            <a:ext cx="22860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Insurance master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858000" y="1752600"/>
            <a:ext cx="2286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Between Dates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6858000" y="1981200"/>
            <a:ext cx="2286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Search Type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6858000" y="2209800"/>
            <a:ext cx="1600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Name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8610600" y="2209800"/>
            <a:ext cx="533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002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-76200" y="1135329"/>
            <a:ext cx="1887953" cy="423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600" dirty="0" smtClean="0"/>
              <a:t> Insurance Master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638" y="1533436"/>
            <a:ext cx="1569660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Pay Category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Insurance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Sub Insurance Master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20" name="Rectangle 19"/>
          <p:cNvSpPr/>
          <p:nvPr/>
        </p:nvSpPr>
        <p:spPr>
          <a:xfrm>
            <a:off x="1752600" y="2057400"/>
            <a:ext cx="73914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52600" y="205442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S.No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05200" y="1600201"/>
            <a:ext cx="2438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6019800" y="1600200"/>
            <a:ext cx="609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Search</a:t>
            </a:r>
            <a:endParaRPr lang="en-IN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828800" y="1600201"/>
            <a:ext cx="1371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New Pay Category</a:t>
            </a:r>
            <a:endParaRPr lang="en-IN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4191000" y="2286000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Courier New" pitchFamily="49" charset="0"/>
              <a:buChar char="o"/>
            </a:pPr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 Cash</a:t>
            </a:r>
          </a:p>
          <a:p>
            <a:pPr>
              <a:buFont typeface="Courier New" pitchFamily="49" charset="0"/>
              <a:buChar char="o"/>
            </a:pPr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 Free</a:t>
            </a:r>
            <a:endParaRPr lang="en-IN" sz="1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57600" y="2057400"/>
            <a:ext cx="54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code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0" y="2057400"/>
            <a:ext cx="649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Active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36616" y="2057400"/>
            <a:ext cx="473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Edit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10400" y="2057400"/>
            <a:ext cx="528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Save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634013" y="2054423"/>
            <a:ext cx="671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Delete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67966" y="2054423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Tracking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1752600" y="2665412"/>
            <a:ext cx="731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>
            <a:off x="2057400" y="23622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5400000">
            <a:off x="3277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5400000">
            <a:off x="38107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rot="5400000">
            <a:off x="6247606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5400000">
            <a:off x="6706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73159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8000206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038600" y="1219200"/>
            <a:ext cx="1717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Pay Category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 rot="5400000">
            <a:off x="56395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648200" y="2057400"/>
            <a:ext cx="748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options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953000" y="2286000"/>
            <a:ext cx="806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Courier New" pitchFamily="49" charset="0"/>
              <a:buChar char="o"/>
            </a:pPr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 Credit</a:t>
            </a:r>
          </a:p>
          <a:p>
            <a:pPr>
              <a:buFont typeface="Courier New" pitchFamily="49" charset="0"/>
              <a:buChar char="o"/>
            </a:pPr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 Insurance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62200" y="2057400"/>
            <a:ext cx="1147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Pay Category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336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-76200" y="1135329"/>
            <a:ext cx="1887953" cy="423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600" dirty="0" smtClean="0"/>
              <a:t> Insurance Master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638" y="1533436"/>
            <a:ext cx="1569660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Pay Category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Insurance Master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Sub Insurance Master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20" name="Rectangle 19"/>
          <p:cNvSpPr/>
          <p:nvPr/>
        </p:nvSpPr>
        <p:spPr>
          <a:xfrm>
            <a:off x="1752600" y="2057400"/>
            <a:ext cx="73914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52600" y="205442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S.No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05200" y="1600201"/>
            <a:ext cx="2438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6019800" y="1600200"/>
            <a:ext cx="609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Search</a:t>
            </a:r>
            <a:endParaRPr lang="en-IN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828800" y="1600201"/>
            <a:ext cx="1371600" cy="2462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New Sub Insurance</a:t>
            </a:r>
            <a:endParaRPr lang="en-IN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3657600" y="2057400"/>
            <a:ext cx="54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code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0" y="2057400"/>
            <a:ext cx="649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Active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36616" y="2057400"/>
            <a:ext cx="473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Edit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10400" y="2057400"/>
            <a:ext cx="528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Save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634013" y="2054423"/>
            <a:ext cx="671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Delete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67966" y="2054423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Tracking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1752600" y="2665412"/>
            <a:ext cx="731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>
            <a:off x="2057400" y="23622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5400000">
            <a:off x="3277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5400000">
            <a:off x="38107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rot="5400000">
            <a:off x="6247606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5400000">
            <a:off x="67063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73159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8000206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038600" y="1219200"/>
            <a:ext cx="17939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Sub Insurance Master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 rot="5400000">
            <a:off x="5639594" y="2361406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648200" y="2057400"/>
            <a:ext cx="946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Insurance 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362200" y="2057400"/>
            <a:ext cx="12242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Sub Insurance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-76200" y="1143000"/>
            <a:ext cx="1482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OP Enquiry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1216223"/>
            <a:ext cx="756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Enquiry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09800" y="1905000"/>
            <a:ext cx="13716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Master data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09800" y="2233382"/>
            <a:ext cx="13716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90000"/>
                  </a:schemeClr>
                </a:solidFill>
              </a:rPr>
              <a:t>Master data</a:t>
            </a:r>
            <a:endParaRPr lang="en-IN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0" y="1600200"/>
            <a:ext cx="13716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To Date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09800" y="1597707"/>
            <a:ext cx="13716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From Date 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76400" y="1447800"/>
            <a:ext cx="53091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Date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UHID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OP 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1447800"/>
            <a:ext cx="93166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To Date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Patient Name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Mobile 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931075"/>
            <a:ext cx="13716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Master data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0" y="2209800"/>
            <a:ext cx="13716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Master data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934200" y="1600200"/>
            <a:ext cx="13716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Master data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0" y="1447800"/>
            <a:ext cx="9476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Address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Referral Type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34200" y="1931075"/>
            <a:ext cx="1371600" cy="2025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All/Master data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34200" y="2209800"/>
            <a:ext cx="1371600" cy="2616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100" dirty="0" smtClean="0"/>
              <a:t>Search</a:t>
            </a:r>
            <a:endParaRPr lang="en-IN" sz="1100" dirty="0"/>
          </a:p>
        </p:txBody>
      </p:sp>
      <p:sp>
        <p:nvSpPr>
          <p:cNvPr id="28" name="Rectangle 27"/>
          <p:cNvSpPr/>
          <p:nvPr/>
        </p:nvSpPr>
        <p:spPr>
          <a:xfrm>
            <a:off x="1752600" y="25908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76400" y="2590800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S.No</a:t>
            </a:r>
            <a:endParaRPr lang="en-IN" sz="1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57668" y="2590800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Patient Name</a:t>
            </a:r>
            <a:endParaRPr lang="en-IN" sz="1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24200" y="2573179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Age</a:t>
            </a:r>
            <a:endParaRPr lang="en-IN" sz="1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593388" y="2590800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Sex</a:t>
            </a:r>
            <a:endParaRPr lang="en-IN" sz="1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0" y="2590800"/>
            <a:ext cx="4619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UHID</a:t>
            </a:r>
            <a:endParaRPr lang="en-IN" sz="1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25500" y="2590800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OP No</a:t>
            </a:r>
            <a:endParaRPr lang="en-IN" sz="1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0" y="2590800"/>
            <a:ext cx="6110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Address</a:t>
            </a:r>
            <a:endParaRPr lang="en-IN" sz="1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86484" y="2590800"/>
            <a:ext cx="6383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Referral </a:t>
            </a:r>
            <a:endParaRPr lang="en-IN" sz="1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924800" y="2590800"/>
            <a:ext cx="1152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Consultant Doctor</a:t>
            </a:r>
            <a:endParaRPr lang="en-IN" sz="1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191000" y="2590800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 smtClean="0">
                <a:solidFill>
                  <a:schemeClr val="accent1">
                    <a:lumMod val="50000"/>
                  </a:schemeClr>
                </a:solidFill>
              </a:rPr>
              <a:t>Mobile No</a:t>
            </a:r>
            <a:endParaRPr lang="en-IN" sz="10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0" y="14478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2" name="Rectangle 61"/>
          <p:cNvSpPr/>
          <p:nvPr/>
        </p:nvSpPr>
        <p:spPr>
          <a:xfrm>
            <a:off x="1752600" y="1219200"/>
            <a:ext cx="7391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52600" y="1279267"/>
            <a:ext cx="19613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Consultant Doctor Tariff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43400" y="12822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32" name="TextBox 31"/>
          <p:cNvSpPr txBox="1"/>
          <p:nvPr/>
        </p:nvSpPr>
        <p:spPr>
          <a:xfrm>
            <a:off x="4876800" y="12822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33" name="TextBox 32"/>
          <p:cNvSpPr txBox="1"/>
          <p:nvPr/>
        </p:nvSpPr>
        <p:spPr>
          <a:xfrm>
            <a:off x="5410200" y="12822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34" name="TextBox 33"/>
          <p:cNvSpPr txBox="1"/>
          <p:nvPr/>
        </p:nvSpPr>
        <p:spPr>
          <a:xfrm>
            <a:off x="5943600" y="1282244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35" name="TextBox 34"/>
          <p:cNvSpPr txBox="1"/>
          <p:nvPr/>
        </p:nvSpPr>
        <p:spPr>
          <a:xfrm>
            <a:off x="6705600" y="1282244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36" name="TextBox 35"/>
          <p:cNvSpPr txBox="1"/>
          <p:nvPr/>
        </p:nvSpPr>
        <p:spPr>
          <a:xfrm>
            <a:off x="1752600" y="1599070"/>
            <a:ext cx="1500732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Consultant Doctor Tariff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2600" y="2895600"/>
            <a:ext cx="54864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4" name="TextBox 43"/>
          <p:cNvSpPr txBox="1"/>
          <p:nvPr/>
        </p:nvSpPr>
        <p:spPr>
          <a:xfrm>
            <a:off x="5952841" y="1600200"/>
            <a:ext cx="9925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Active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Is Master tariff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13338" y="1747629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715000" y="20574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543800" y="12954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sp>
        <p:nvSpPr>
          <p:cNvPr id="50" name="TextBox 49"/>
          <p:cNvSpPr txBox="1"/>
          <p:nvPr/>
        </p:nvSpPr>
        <p:spPr>
          <a:xfrm>
            <a:off x="8305800" y="12954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Back</a:t>
            </a:r>
            <a:endParaRPr lang="en-IN" sz="800" dirty="0"/>
          </a:p>
        </p:txBody>
      </p:sp>
      <p:sp>
        <p:nvSpPr>
          <p:cNvPr id="51" name="TextBox 50"/>
          <p:cNvSpPr txBox="1"/>
          <p:nvPr/>
        </p:nvSpPr>
        <p:spPr>
          <a:xfrm>
            <a:off x="7239000" y="1600201"/>
            <a:ext cx="19050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Consultant tariff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39000" y="1905000"/>
            <a:ext cx="1219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Search Type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534400" y="1905000"/>
            <a:ext cx="6096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  <p:cxnSp>
        <p:nvCxnSpPr>
          <p:cNvPr id="54" name="Straight Connector 53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58" name="TextBox 5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59" name="TextBox 5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60" name="TextBox 5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-76200" y="1143000"/>
            <a:ext cx="17817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600" b="1" dirty="0" smtClean="0">
                <a:solidFill>
                  <a:schemeClr val="accent1">
                    <a:lumMod val="50000"/>
                  </a:schemeClr>
                </a:solidFill>
              </a:rPr>
              <a:t> OP Tariff Master</a:t>
            </a:r>
            <a:endParaRPr lang="en-IN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6200" y="1371600"/>
            <a:ext cx="1641796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Consultant Doctor Tariff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Procedure Tariff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Referral Tariff</a:t>
            </a:r>
          </a:p>
        </p:txBody>
      </p:sp>
      <p:cxnSp>
        <p:nvCxnSpPr>
          <p:cNvPr id="70" name="Straight Connector 69"/>
          <p:cNvCxnSpPr/>
          <p:nvPr/>
        </p:nvCxnSpPr>
        <p:spPr>
          <a:xfrm rot="16200000" flipH="1">
            <a:off x="3810001" y="40386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752600" y="1915770"/>
            <a:ext cx="138050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Importing For Existing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76600" y="2026208"/>
            <a:ext cx="1828800" cy="19436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Selection Prev Tariff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752600" y="2667000"/>
            <a:ext cx="5486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752600" y="2209800"/>
            <a:ext cx="1535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Consultant Doctor Name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76600" y="2320238"/>
            <a:ext cx="1828800" cy="19436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Select doctor name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257800" y="2362200"/>
            <a:ext cx="1066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700" dirty="0" smtClean="0">
                <a:solidFill>
                  <a:schemeClr val="bg2">
                    <a:lumMod val="90000"/>
                  </a:schemeClr>
                </a:solidFill>
              </a:rPr>
              <a:t>All Doctor</a:t>
            </a:r>
            <a:endParaRPr lang="en-IN" sz="7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6477000" y="2286000"/>
            <a:ext cx="6096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752600" y="2590800"/>
            <a:ext cx="437940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S.No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09800" y="2590800"/>
            <a:ext cx="91403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Doctor Name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25883" y="2590800"/>
            <a:ext cx="1279517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Consultant Amount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57800" y="2590800"/>
            <a:ext cx="947695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Tariff Amount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77000" y="2601570"/>
            <a:ext cx="58862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Update</a:t>
            </a:r>
          </a:p>
        </p:txBody>
      </p:sp>
      <p:cxnSp>
        <p:nvCxnSpPr>
          <p:cNvPr id="88" name="Straight Connector 87"/>
          <p:cNvCxnSpPr/>
          <p:nvPr/>
        </p:nvCxnSpPr>
        <p:spPr>
          <a:xfrm rot="5400000">
            <a:off x="1562894" y="3313906"/>
            <a:ext cx="129540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rot="5400000">
            <a:off x="3163094" y="3313906"/>
            <a:ext cx="129540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rot="5400000">
            <a:off x="4610894" y="3313906"/>
            <a:ext cx="129540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rot="5400000">
            <a:off x="5830094" y="3313906"/>
            <a:ext cx="129540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3276600" y="1752600"/>
            <a:ext cx="1828800" cy="19436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764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752600" y="1219200"/>
            <a:ext cx="7391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52600" y="1279267"/>
            <a:ext cx="13723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Procedure Tariff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43400" y="12822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6" name="TextBox 5"/>
          <p:cNvSpPr txBox="1"/>
          <p:nvPr/>
        </p:nvSpPr>
        <p:spPr>
          <a:xfrm>
            <a:off x="4876800" y="12822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7" name="TextBox 6"/>
          <p:cNvSpPr txBox="1"/>
          <p:nvPr/>
        </p:nvSpPr>
        <p:spPr>
          <a:xfrm>
            <a:off x="5410200" y="12822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8" name="TextBox 7"/>
          <p:cNvSpPr txBox="1"/>
          <p:nvPr/>
        </p:nvSpPr>
        <p:spPr>
          <a:xfrm>
            <a:off x="5943600" y="1282244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9" name="TextBox 8"/>
          <p:cNvSpPr txBox="1"/>
          <p:nvPr/>
        </p:nvSpPr>
        <p:spPr>
          <a:xfrm>
            <a:off x="6705600" y="1282244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10" name="TextBox 9"/>
          <p:cNvSpPr txBox="1"/>
          <p:nvPr/>
        </p:nvSpPr>
        <p:spPr>
          <a:xfrm>
            <a:off x="1752600" y="1599070"/>
            <a:ext cx="14269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Procedure Tariff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2600" y="2895600"/>
            <a:ext cx="54864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5952841" y="1600200"/>
            <a:ext cx="9925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Active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Is Master tariff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3338" y="1747629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0" y="20574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43800" y="12954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sp>
        <p:nvSpPr>
          <p:cNvPr id="16" name="TextBox 15"/>
          <p:cNvSpPr txBox="1"/>
          <p:nvPr/>
        </p:nvSpPr>
        <p:spPr>
          <a:xfrm>
            <a:off x="8305800" y="12954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Back</a:t>
            </a:r>
            <a:endParaRPr lang="en-IN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7239000" y="1600201"/>
            <a:ext cx="19050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Procedure tariffs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9000" y="1905000"/>
            <a:ext cx="1219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Search Type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34400" y="1905000"/>
            <a:ext cx="6096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-76200" y="1143000"/>
            <a:ext cx="17817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600" b="1" dirty="0" smtClean="0">
                <a:solidFill>
                  <a:schemeClr val="accent1">
                    <a:lumMod val="50000"/>
                  </a:schemeClr>
                </a:solidFill>
              </a:rPr>
              <a:t> OP Tariff Master</a:t>
            </a:r>
            <a:endParaRPr lang="en-IN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200" y="1371600"/>
            <a:ext cx="1641796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Consultant Doctor Tariff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Procedure Tariff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Referral Tariff</a:t>
            </a:r>
          </a:p>
        </p:txBody>
      </p:sp>
      <p:cxnSp>
        <p:nvCxnSpPr>
          <p:cNvPr id="29" name="Straight Connector 28"/>
          <p:cNvCxnSpPr/>
          <p:nvPr/>
        </p:nvCxnSpPr>
        <p:spPr>
          <a:xfrm rot="16200000" flipH="1">
            <a:off x="3810001" y="40386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52600" y="1915770"/>
            <a:ext cx="138050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Importing For Existing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76600" y="2026208"/>
            <a:ext cx="1828800" cy="19436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Selection Prev Tariff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752600" y="2667000"/>
            <a:ext cx="5486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52600" y="2209800"/>
            <a:ext cx="110639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Procedure Name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76600" y="2320238"/>
            <a:ext cx="1828800" cy="19436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Select doctor name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257800" y="2362200"/>
            <a:ext cx="1066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700" dirty="0" smtClean="0">
                <a:solidFill>
                  <a:schemeClr val="bg2">
                    <a:lumMod val="90000"/>
                  </a:schemeClr>
                </a:solidFill>
              </a:rPr>
              <a:t>All Procedures</a:t>
            </a:r>
            <a:endParaRPr lang="en-IN" sz="7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77000" y="2286000"/>
            <a:ext cx="6096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52600" y="2590800"/>
            <a:ext cx="437940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S.No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09800" y="2590800"/>
            <a:ext cx="110639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Procedure 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1005" y="2590800"/>
            <a:ext cx="811441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Actual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8807" y="2590800"/>
            <a:ext cx="78579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Tariff  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0" y="2601570"/>
            <a:ext cx="58862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Update</a:t>
            </a:r>
          </a:p>
        </p:txBody>
      </p:sp>
      <p:cxnSp>
        <p:nvCxnSpPr>
          <p:cNvPr id="42" name="Straight Connector 41"/>
          <p:cNvCxnSpPr/>
          <p:nvPr/>
        </p:nvCxnSpPr>
        <p:spPr>
          <a:xfrm rot="5400000">
            <a:off x="1562894" y="3313906"/>
            <a:ext cx="129540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2629694" y="3313906"/>
            <a:ext cx="129540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5400000">
            <a:off x="4610894" y="3313906"/>
            <a:ext cx="129540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5400000">
            <a:off x="5830094" y="3313906"/>
            <a:ext cx="129540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276600" y="1752600"/>
            <a:ext cx="1828800" cy="19436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3276600" y="2590800"/>
            <a:ext cx="465192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Code</a:t>
            </a:r>
          </a:p>
        </p:txBody>
      </p:sp>
      <p:cxnSp>
        <p:nvCxnSpPr>
          <p:cNvPr id="93" name="Straight Connector 92"/>
          <p:cNvCxnSpPr/>
          <p:nvPr/>
        </p:nvCxnSpPr>
        <p:spPr>
          <a:xfrm rot="5400000">
            <a:off x="3390105" y="3313906"/>
            <a:ext cx="129540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050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752600" y="1219200"/>
            <a:ext cx="7391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52600" y="1279267"/>
            <a:ext cx="11955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Referral Tariff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43400" y="12822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6" name="TextBox 5"/>
          <p:cNvSpPr txBox="1"/>
          <p:nvPr/>
        </p:nvSpPr>
        <p:spPr>
          <a:xfrm>
            <a:off x="4876800" y="12822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7" name="TextBox 6"/>
          <p:cNvSpPr txBox="1"/>
          <p:nvPr/>
        </p:nvSpPr>
        <p:spPr>
          <a:xfrm>
            <a:off x="5410200" y="1282244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8" name="TextBox 7"/>
          <p:cNvSpPr txBox="1"/>
          <p:nvPr/>
        </p:nvSpPr>
        <p:spPr>
          <a:xfrm>
            <a:off x="5943600" y="1282244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9" name="TextBox 8"/>
          <p:cNvSpPr txBox="1"/>
          <p:nvPr/>
        </p:nvSpPr>
        <p:spPr>
          <a:xfrm>
            <a:off x="6705600" y="1282244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10" name="TextBox 9"/>
          <p:cNvSpPr txBox="1"/>
          <p:nvPr/>
        </p:nvSpPr>
        <p:spPr>
          <a:xfrm>
            <a:off x="1752600" y="1599070"/>
            <a:ext cx="129875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Referral Tariff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2600" y="2895600"/>
            <a:ext cx="54864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5952841" y="1600200"/>
            <a:ext cx="9925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Active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Is Master tariff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3338" y="1747629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0" y="20574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43800" y="12954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sp>
        <p:nvSpPr>
          <p:cNvPr id="16" name="TextBox 15"/>
          <p:cNvSpPr txBox="1"/>
          <p:nvPr/>
        </p:nvSpPr>
        <p:spPr>
          <a:xfrm>
            <a:off x="8305800" y="12954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Back</a:t>
            </a:r>
            <a:endParaRPr lang="en-IN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7239000" y="1600201"/>
            <a:ext cx="1905000" cy="246221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000" b="1" dirty="0" smtClean="0">
                <a:solidFill>
                  <a:schemeClr val="tx1"/>
                </a:solidFill>
              </a:rPr>
              <a:t>Saved Referral Tariffs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9000" y="1905000"/>
            <a:ext cx="1219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75000"/>
                  </a:schemeClr>
                </a:solidFill>
              </a:rPr>
              <a:t>Search Type</a:t>
            </a:r>
            <a:endParaRPr lang="en-IN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34400" y="1905000"/>
            <a:ext cx="6096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0" y="1143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-76200" y="1143000"/>
            <a:ext cx="17817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600" b="1" dirty="0" smtClean="0">
                <a:solidFill>
                  <a:schemeClr val="accent1">
                    <a:lumMod val="50000"/>
                  </a:schemeClr>
                </a:solidFill>
              </a:rPr>
              <a:t> OP Tariff Master</a:t>
            </a:r>
            <a:endParaRPr lang="en-IN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200" y="1371600"/>
            <a:ext cx="1641796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Consultant Doctor Tariff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Procedure Tariff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Referral Tariff</a:t>
            </a:r>
          </a:p>
        </p:txBody>
      </p:sp>
      <p:cxnSp>
        <p:nvCxnSpPr>
          <p:cNvPr id="29" name="Straight Connector 28"/>
          <p:cNvCxnSpPr/>
          <p:nvPr/>
        </p:nvCxnSpPr>
        <p:spPr>
          <a:xfrm rot="16200000" flipH="1">
            <a:off x="3810001" y="40386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52600" y="1915770"/>
            <a:ext cx="138050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Importing For Existing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76600" y="2026208"/>
            <a:ext cx="1828800" cy="19436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Selection Prev Tariff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752600" y="2667000"/>
            <a:ext cx="5486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52600" y="2209800"/>
            <a:ext cx="98616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Services Name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76600" y="2320238"/>
            <a:ext cx="1828800" cy="19436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Select doctor name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257800" y="2362200"/>
            <a:ext cx="1066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700" dirty="0" smtClean="0">
                <a:solidFill>
                  <a:schemeClr val="bg2">
                    <a:lumMod val="90000"/>
                  </a:schemeClr>
                </a:solidFill>
              </a:rPr>
              <a:t>All Procedures</a:t>
            </a:r>
            <a:endParaRPr lang="en-IN" sz="7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77000" y="2286000"/>
            <a:ext cx="6096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1"/>
                </a:solidFill>
              </a:rPr>
              <a:t>Search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52600" y="2590800"/>
            <a:ext cx="437940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S.No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09800" y="2590800"/>
            <a:ext cx="98616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Services 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1005" y="2590800"/>
            <a:ext cx="811441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Actual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2590800"/>
            <a:ext cx="131959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Commission Amt /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0" y="2601570"/>
            <a:ext cx="58862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Update</a:t>
            </a:r>
          </a:p>
        </p:txBody>
      </p:sp>
      <p:cxnSp>
        <p:nvCxnSpPr>
          <p:cNvPr id="42" name="Straight Connector 41"/>
          <p:cNvCxnSpPr/>
          <p:nvPr/>
        </p:nvCxnSpPr>
        <p:spPr>
          <a:xfrm rot="5400000">
            <a:off x="1562894" y="3313906"/>
            <a:ext cx="129540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2629694" y="3313906"/>
            <a:ext cx="129540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5400000">
            <a:off x="4610894" y="3313906"/>
            <a:ext cx="129540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5400000">
            <a:off x="5904706" y="3313906"/>
            <a:ext cx="129540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276600" y="1752600"/>
            <a:ext cx="1828800" cy="19436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276600" y="2590800"/>
            <a:ext cx="465192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Code</a:t>
            </a:r>
          </a:p>
        </p:txBody>
      </p:sp>
      <p:cxnSp>
        <p:nvCxnSpPr>
          <p:cNvPr id="48" name="Straight Connector 47"/>
          <p:cNvCxnSpPr/>
          <p:nvPr/>
        </p:nvCxnSpPr>
        <p:spPr>
          <a:xfrm rot="5400000">
            <a:off x="3390105" y="3313906"/>
            <a:ext cx="129540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1752600" y="911423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2514600" y="911423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429000" y="911423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4343400" y="911423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638800" y="911423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295400"/>
            <a:ext cx="1334020" cy="38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400" dirty="0" smtClean="0"/>
              <a:t> OP Financials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6764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76200" y="1609636"/>
            <a:ext cx="15247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OP Financial Reports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OP Quick Reports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CC/Referral Payments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Consultant Payments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52600" y="1219200"/>
            <a:ext cx="7391400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52600" y="1259466"/>
            <a:ext cx="1565813" cy="3407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b="1" dirty="0" smtClean="0"/>
              <a:t>OP Financials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2600" y="1600200"/>
            <a:ext cx="851195" cy="3407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 smtClean="0"/>
              <a:t>From 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0800" y="1752600"/>
            <a:ext cx="1371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800" y="1600200"/>
            <a:ext cx="656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 smtClean="0"/>
              <a:t>To 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3000" y="1752600"/>
            <a:ext cx="1371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752600" y="2057400"/>
            <a:ext cx="7391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34581" y="1981200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 smtClean="0"/>
              <a:t>OP Financials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7857" y="1981200"/>
            <a:ext cx="1839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 smtClean="0"/>
              <a:t>Consultant Doctor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4200" y="1981200"/>
            <a:ext cx="1283236" cy="3407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 smtClean="0"/>
              <a:t>Expenses Reports</a:t>
            </a:r>
          </a:p>
        </p:txBody>
      </p:sp>
      <p:cxnSp>
        <p:nvCxnSpPr>
          <p:cNvPr id="26" name="Straight Connector 25"/>
          <p:cNvCxnSpPr/>
          <p:nvPr/>
        </p:nvCxnSpPr>
        <p:spPr>
          <a:xfrm rot="5400000">
            <a:off x="3543300" y="2171700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6211094" y="2170906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05000" y="2438400"/>
            <a:ext cx="1371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Selection all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905000" y="3048000"/>
            <a:ext cx="13716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Procedure wise collection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905000" y="3505200"/>
            <a:ext cx="13716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DaywiseCollection</a:t>
            </a:r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 Summary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905000" y="5334000"/>
            <a:ext cx="1371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OP Dues 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905000" y="5638800"/>
            <a:ext cx="1371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Op Cancellations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905000" y="5943600"/>
            <a:ext cx="1371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Op refunds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905000" y="3962400"/>
            <a:ext cx="13716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DaywiseCollection with Procedure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905000" y="6248400"/>
            <a:ext cx="1371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Op Discount Report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905000" y="6553200"/>
            <a:ext cx="1371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OP Patient Details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905000" y="2743200"/>
            <a:ext cx="1371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User wise collection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038600" y="2438400"/>
            <a:ext cx="1828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DoctorWiseCollections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038600" y="2743200"/>
            <a:ext cx="1828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DoctorWiseConsultations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038600" y="3048000"/>
            <a:ext cx="1828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DoctorWiseProcedures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467600" y="2438400"/>
            <a:ext cx="1524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Selection all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553200" y="2743200"/>
            <a:ext cx="2438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Expenses Paid To Report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00800" y="2362200"/>
            <a:ext cx="1120820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Expenses Paid 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20000" y="3124200"/>
            <a:ext cx="1371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Selection all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77000" y="3048000"/>
            <a:ext cx="1167307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Expenses Purpose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53200" y="3429000"/>
            <a:ext cx="2438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Expenses Purpose Report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55" name="Straight Connector 54"/>
          <p:cNvCxnSpPr/>
          <p:nvPr/>
        </p:nvCxnSpPr>
        <p:spPr>
          <a:xfrm rot="5400000">
            <a:off x="2324894" y="3847306"/>
            <a:ext cx="2667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rot="5400000">
            <a:off x="4991894" y="3847306"/>
            <a:ext cx="2667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7620000" y="3810000"/>
            <a:ext cx="1371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Selection all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477000" y="3733800"/>
            <a:ext cx="984565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Expenses Type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53200" y="4114800"/>
            <a:ext cx="2438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Expenses Purpose Report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553200" y="4419600"/>
            <a:ext cx="2438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Expenses Summary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905000" y="4419600"/>
            <a:ext cx="13716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DaywiseCollection</a:t>
            </a:r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 Summary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905000" y="4876800"/>
            <a:ext cx="13716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90000"/>
                  </a:schemeClr>
                </a:solidFill>
              </a:rPr>
              <a:t>Daywisecollection with Procedure Expenses</a:t>
            </a:r>
            <a:endParaRPr lang="en-IN" sz="9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629400" y="1600200"/>
            <a:ext cx="772134" cy="3407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 smtClean="0"/>
              <a:t>Export 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91400" y="1752600"/>
            <a:ext cx="1371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Excel/</a:t>
            </a:r>
            <a:r>
              <a:rPr lang="en-IN" sz="1100" dirty="0" err="1" smtClean="0">
                <a:solidFill>
                  <a:schemeClr val="bg2">
                    <a:lumMod val="90000"/>
                  </a:schemeClr>
                </a:solidFill>
              </a:rPr>
              <a:t>Pdf</a:t>
            </a:r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/Word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038600" y="3352800"/>
            <a:ext cx="1828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Consultant Pending Reports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038600" y="3657600"/>
            <a:ext cx="1828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Consultant Due Reports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4038600" y="3962400"/>
            <a:ext cx="1828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Consultant </a:t>
            </a:r>
            <a:r>
              <a:rPr lang="en-IN" sz="1100" dirty="0" err="1" smtClean="0">
                <a:solidFill>
                  <a:schemeClr val="bg2">
                    <a:lumMod val="90000"/>
                  </a:schemeClr>
                </a:solidFill>
              </a:rPr>
              <a:t>SummaryReports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1752600" y="911423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2514600" y="911423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429000" y="911423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4343400" y="911423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638800" y="911423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295400"/>
            <a:ext cx="1334020" cy="38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400" dirty="0" smtClean="0"/>
              <a:t> OP Financials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9050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76200" y="1609636"/>
            <a:ext cx="15247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OP Financial Reports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OP Quick Reports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CC/Referral Payments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Consultant Payments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2600" y="1295400"/>
            <a:ext cx="7391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52600" y="1259466"/>
            <a:ext cx="125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b="1" dirty="0" smtClean="0"/>
              <a:t>OP MRD Reports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52600" y="1981200"/>
            <a:ext cx="1143000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100" dirty="0" smtClean="0"/>
              <a:t>Mobile No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Patient Name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Patient Age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Relation Name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Relation Age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Marital Status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Address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28999" y="2349899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Patient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743199" y="2349899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029199" y="2349899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Sur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2743199" y="2578499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Age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029199" y="2578499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Male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743199" y="3594415"/>
            <a:ext cx="3276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Address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419599" y="2553183"/>
            <a:ext cx="5982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Gender</a:t>
            </a:r>
            <a:endParaRPr lang="en-IN" sz="1050" b="1" dirty="0"/>
          </a:p>
        </p:txBody>
      </p:sp>
      <p:sp>
        <p:nvSpPr>
          <p:cNvPr id="67" name="Rectangle 66"/>
          <p:cNvSpPr/>
          <p:nvPr/>
        </p:nvSpPr>
        <p:spPr>
          <a:xfrm>
            <a:off x="3657599" y="2578499"/>
            <a:ext cx="762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Years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428999" y="2807099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Relation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743199" y="2807099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S/o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743199" y="3312824"/>
            <a:ext cx="1676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Married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2743199" y="3061015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Age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5029199" y="3061015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Male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419599" y="3010383"/>
            <a:ext cx="5982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Gender</a:t>
            </a:r>
            <a:endParaRPr lang="en-IN" sz="1050" b="1" dirty="0"/>
          </a:p>
        </p:txBody>
      </p:sp>
      <p:sp>
        <p:nvSpPr>
          <p:cNvPr id="74" name="Rectangle 73"/>
          <p:cNvSpPr/>
          <p:nvPr/>
        </p:nvSpPr>
        <p:spPr>
          <a:xfrm>
            <a:off x="3657599" y="3061015"/>
            <a:ext cx="762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Years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5029199" y="3312824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Date of birth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419599" y="3287508"/>
            <a:ext cx="4363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DOB</a:t>
            </a:r>
            <a:endParaRPr lang="en-IN" sz="1050" b="1" dirty="0"/>
          </a:p>
        </p:txBody>
      </p:sp>
      <p:sp>
        <p:nvSpPr>
          <p:cNvPr id="77" name="Rectangle 76"/>
          <p:cNvSpPr/>
          <p:nvPr/>
        </p:nvSpPr>
        <p:spPr>
          <a:xfrm>
            <a:off x="2743200" y="2098090"/>
            <a:ext cx="3276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Patient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5029199" y="28194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Sur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752600" y="1702713"/>
            <a:ext cx="838200" cy="309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UHID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0" y="1752600"/>
            <a:ext cx="1219200" cy="20129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1" name="Rectangle 80"/>
          <p:cNvSpPr/>
          <p:nvPr/>
        </p:nvSpPr>
        <p:spPr>
          <a:xfrm>
            <a:off x="4419600" y="1752600"/>
            <a:ext cx="1219200" cy="2012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2" name="Oval 81"/>
          <p:cNvSpPr/>
          <p:nvPr/>
        </p:nvSpPr>
        <p:spPr>
          <a:xfrm>
            <a:off x="3581400" y="1725290"/>
            <a:ext cx="3048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3" name="Oval 82"/>
          <p:cNvSpPr/>
          <p:nvPr/>
        </p:nvSpPr>
        <p:spPr>
          <a:xfrm>
            <a:off x="5715000" y="1725290"/>
            <a:ext cx="3048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962400" y="1676400"/>
            <a:ext cx="685800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OP No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19800" y="1981200"/>
            <a:ext cx="144780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100" dirty="0" smtClean="0"/>
              <a:t>Reg Date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Referral Type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Referral Name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Consultant Doctor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Department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Specialization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239000" y="2133600"/>
            <a:ext cx="1828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239000" y="2362200"/>
            <a:ext cx="1828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7239000" y="2590800"/>
            <a:ext cx="1828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7239000" y="2819400"/>
            <a:ext cx="1828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7239000" y="3048000"/>
            <a:ext cx="1828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019800" y="1640466"/>
            <a:ext cx="772134" cy="3407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 smtClean="0"/>
              <a:t>Export To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239000" y="1752600"/>
            <a:ext cx="1371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Excel/</a:t>
            </a:r>
            <a:r>
              <a:rPr lang="en-IN" sz="1100" dirty="0" err="1" smtClean="0">
                <a:solidFill>
                  <a:schemeClr val="bg2">
                    <a:lumMod val="90000"/>
                  </a:schemeClr>
                </a:solidFill>
              </a:rPr>
              <a:t>Pdf</a:t>
            </a:r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/Word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7239000" y="3352800"/>
            <a:ext cx="1828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1752600" y="38100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391400" y="1371600"/>
            <a:ext cx="1752600" cy="228600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900" dirty="0" smtClean="0">
                <a:solidFill>
                  <a:schemeClr val="tx1"/>
                </a:solidFill>
              </a:rPr>
              <a:t>Patient Record Upload</a:t>
            </a:r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828800" y="3733800"/>
            <a:ext cx="1504899" cy="3407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b="1" dirty="0" smtClean="0">
                <a:solidFill>
                  <a:schemeClr val="tx2">
                    <a:lumMod val="75000"/>
                  </a:schemeClr>
                </a:solidFill>
              </a:rPr>
              <a:t>OP Financial Reports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38600" y="3733800"/>
            <a:ext cx="116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b="1" dirty="0" smtClean="0">
                <a:solidFill>
                  <a:schemeClr val="tx2">
                    <a:lumMod val="75000"/>
                  </a:schemeClr>
                </a:solidFill>
              </a:rPr>
              <a:t>OP Lab Reports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67400" y="3745468"/>
            <a:ext cx="1347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b="1" dirty="0" smtClean="0">
                <a:solidFill>
                  <a:schemeClr val="tx2">
                    <a:lumMod val="75000"/>
                  </a:schemeClr>
                </a:solidFill>
              </a:rPr>
              <a:t>Pharmacy Reports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05000" y="4114800"/>
            <a:ext cx="1676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90000"/>
                  </a:schemeClr>
                </a:solidFill>
              </a:rPr>
              <a:t>Payment Details</a:t>
            </a:r>
            <a:endParaRPr lang="en-IN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1905000" y="4419600"/>
            <a:ext cx="1676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bg2">
                    <a:lumMod val="90000"/>
                  </a:schemeClr>
                </a:solidFill>
              </a:rPr>
              <a:t>Payment Summary</a:t>
            </a:r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905000" y="4724400"/>
            <a:ext cx="1676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PPD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3886200" y="4114800"/>
            <a:ext cx="1524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Lab Investigations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3886200" y="4419600"/>
            <a:ext cx="1524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Lab Dues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3886200" y="4724400"/>
            <a:ext cx="1524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Lab Report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5638800" y="4114800"/>
            <a:ext cx="1676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bg2">
                    <a:lumMod val="90000"/>
                  </a:schemeClr>
                </a:solidFill>
              </a:rPr>
              <a:t>Sales Bills</a:t>
            </a:r>
            <a:endParaRPr lang="en-IN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5638800" y="4419600"/>
            <a:ext cx="1676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bg2">
                    <a:lumMod val="90000"/>
                  </a:schemeClr>
                </a:solidFill>
              </a:rPr>
              <a:t>Sales Dues</a:t>
            </a:r>
            <a:endParaRPr lang="en-IN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5638800" y="4724400"/>
            <a:ext cx="1676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bg2">
                    <a:lumMod val="90000"/>
                  </a:schemeClr>
                </a:solidFill>
              </a:rPr>
              <a:t>Sales Product wise Bills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113" name="Straight Connector 112"/>
          <p:cNvCxnSpPr/>
          <p:nvPr/>
        </p:nvCxnSpPr>
        <p:spPr>
          <a:xfrm rot="5400000">
            <a:off x="3239294" y="4533106"/>
            <a:ext cx="990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rot="5400000">
            <a:off x="5068094" y="4533106"/>
            <a:ext cx="990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543800" y="3745468"/>
            <a:ext cx="1246688" cy="3407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b="1" dirty="0" smtClean="0">
                <a:solidFill>
                  <a:schemeClr val="tx2">
                    <a:lumMod val="75000"/>
                  </a:schemeClr>
                </a:solidFill>
              </a:rPr>
              <a:t>Print Certificates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20000" y="4114800"/>
            <a:ext cx="1447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bg2">
                    <a:lumMod val="90000"/>
                  </a:schemeClr>
                </a:solidFill>
              </a:rPr>
              <a:t>Select Reports</a:t>
            </a:r>
            <a:endParaRPr lang="en-IN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7620000" y="4419600"/>
            <a:ext cx="1447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bg2">
                    <a:lumMod val="90000"/>
                  </a:schemeClr>
                </a:solidFill>
              </a:rPr>
              <a:t>Certificate Print</a:t>
            </a:r>
            <a:endParaRPr lang="en-IN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87" name="Straight Connector 86"/>
          <p:cNvCxnSpPr/>
          <p:nvPr/>
        </p:nvCxnSpPr>
        <p:spPr>
          <a:xfrm rot="5400000">
            <a:off x="6973094" y="4533106"/>
            <a:ext cx="990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1752600" y="502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2098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4" name="Rectangle 13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52600" y="1216223"/>
            <a:ext cx="16241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CC/Referral  Doctor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576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23" name="TextBox 22"/>
          <p:cNvSpPr txBox="1"/>
          <p:nvPr/>
        </p:nvSpPr>
        <p:spPr>
          <a:xfrm>
            <a:off x="41910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24" name="TextBox 23"/>
          <p:cNvSpPr txBox="1"/>
          <p:nvPr/>
        </p:nvSpPr>
        <p:spPr>
          <a:xfrm>
            <a:off x="47244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25" name="TextBox 24"/>
          <p:cNvSpPr txBox="1"/>
          <p:nvPr/>
        </p:nvSpPr>
        <p:spPr>
          <a:xfrm>
            <a:off x="5257800" y="12192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26" name="TextBox 25"/>
          <p:cNvSpPr txBox="1"/>
          <p:nvPr/>
        </p:nvSpPr>
        <p:spPr>
          <a:xfrm>
            <a:off x="6019800" y="12192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27" name="TextBox 26"/>
          <p:cNvSpPr txBox="1"/>
          <p:nvPr/>
        </p:nvSpPr>
        <p:spPr>
          <a:xfrm>
            <a:off x="6858000" y="123235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sp>
        <p:nvSpPr>
          <p:cNvPr id="30" name="TextBox 29"/>
          <p:cNvSpPr txBox="1"/>
          <p:nvPr/>
        </p:nvSpPr>
        <p:spPr>
          <a:xfrm>
            <a:off x="2057653" y="1447800"/>
            <a:ext cx="761747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From Date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4200" y="1623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2" name="TextBox 41"/>
          <p:cNvSpPr txBox="1"/>
          <p:nvPr/>
        </p:nvSpPr>
        <p:spPr>
          <a:xfrm>
            <a:off x="0" y="1295400"/>
            <a:ext cx="1334020" cy="38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400" dirty="0" smtClean="0"/>
              <a:t> OP Financials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" y="1609636"/>
            <a:ext cx="15247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OP Financial Reports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OP Quick Reports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CC/Referral Payments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Consultant Payments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57800" y="1600200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TextBox 44"/>
          <p:cNvSpPr txBox="1"/>
          <p:nvPr/>
        </p:nvSpPr>
        <p:spPr>
          <a:xfrm>
            <a:off x="4648200" y="1447800"/>
            <a:ext cx="611065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To Date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05000" y="1600200"/>
            <a:ext cx="152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752600" y="1828800"/>
            <a:ext cx="13821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Referral Doctor Name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24200" y="1981200"/>
            <a:ext cx="2514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5867400" y="1981200"/>
            <a:ext cx="9144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Get Details</a:t>
            </a:r>
            <a:endParaRPr lang="en-IN" sz="800" dirty="0"/>
          </a:p>
        </p:txBody>
      </p:sp>
      <p:sp>
        <p:nvSpPr>
          <p:cNvPr id="51" name="TextBox 50"/>
          <p:cNvSpPr txBox="1"/>
          <p:nvPr/>
        </p:nvSpPr>
        <p:spPr>
          <a:xfrm>
            <a:off x="6858000" y="1447800"/>
            <a:ext cx="110318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Bill Date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Bill No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Expenses Bill No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653" y="2220570"/>
            <a:ext cx="1471878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Calculate Automatically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05000" y="2372970"/>
            <a:ext cx="152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733800" y="2209800"/>
            <a:ext cx="1132041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Calculate Manual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81147" y="2362200"/>
            <a:ext cx="152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05400" y="2209800"/>
            <a:ext cx="90922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Exclude Dues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52747" y="2362200"/>
            <a:ext cx="152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752600" y="3260272"/>
            <a:ext cx="7391400" cy="62592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9" name="Rectangle 58"/>
          <p:cNvSpPr/>
          <p:nvPr/>
        </p:nvSpPr>
        <p:spPr>
          <a:xfrm>
            <a:off x="1752600" y="3031671"/>
            <a:ext cx="7391400" cy="2449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676400" y="2895600"/>
            <a:ext cx="5900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S.No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30683" y="2895600"/>
            <a:ext cx="9747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Service Name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2895600"/>
            <a:ext cx="685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TotalAmt</a:t>
            </a:r>
          </a:p>
        </p:txBody>
      </p:sp>
      <p:cxnSp>
        <p:nvCxnSpPr>
          <p:cNvPr id="65" name="Straight Connector 64"/>
          <p:cNvCxnSpPr/>
          <p:nvPr/>
        </p:nvCxnSpPr>
        <p:spPr>
          <a:xfrm rot="5400000">
            <a:off x="1630929" y="3458140"/>
            <a:ext cx="8545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rot="5400000">
            <a:off x="3534340" y="3458140"/>
            <a:ext cx="8545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rot="5400000">
            <a:off x="4831329" y="3458141"/>
            <a:ext cx="85453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rot="5400000">
            <a:off x="6012429" y="3436372"/>
            <a:ext cx="9307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1752600" y="2743200"/>
            <a:ext cx="7391400" cy="244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85" name="Straight Connector 84"/>
          <p:cNvCxnSpPr/>
          <p:nvPr/>
        </p:nvCxnSpPr>
        <p:spPr>
          <a:xfrm rot="5400000">
            <a:off x="2553494" y="2856706"/>
            <a:ext cx="228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rot="5400000">
            <a:off x="3696494" y="2856706"/>
            <a:ext cx="228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 rot="5400000">
            <a:off x="4915694" y="2856706"/>
            <a:ext cx="228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828800" y="2667000"/>
            <a:ext cx="590003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OP Bills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19400" y="2667000"/>
            <a:ext cx="5900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IP Bills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38600" y="2667000"/>
            <a:ext cx="762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Lab Bills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2895600"/>
            <a:ext cx="590003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Bill No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67000" y="2895600"/>
            <a:ext cx="5900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OP No</a:t>
            </a:r>
          </a:p>
        </p:txBody>
      </p:sp>
      <p:cxnSp>
        <p:nvCxnSpPr>
          <p:cNvPr id="96" name="Straight Connector 95"/>
          <p:cNvCxnSpPr/>
          <p:nvPr/>
        </p:nvCxnSpPr>
        <p:spPr>
          <a:xfrm rot="5400000">
            <a:off x="2240528" y="3474472"/>
            <a:ext cx="8545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rot="5400000">
            <a:off x="2773928" y="3474471"/>
            <a:ext cx="8545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219997" y="2895600"/>
            <a:ext cx="8186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err="1" smtClean="0"/>
              <a:t>Reg</a:t>
            </a:r>
            <a:r>
              <a:rPr lang="en-IN" sz="1050" dirty="0" smtClean="0"/>
              <a:t> Date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67400" y="2895600"/>
            <a:ext cx="685800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err="1" smtClean="0"/>
              <a:t>DiscAmt</a:t>
            </a:r>
            <a:endParaRPr lang="en-IN" sz="1050" dirty="0" smtClean="0"/>
          </a:p>
        </p:txBody>
      </p:sp>
      <p:sp>
        <p:nvSpPr>
          <p:cNvPr id="100" name="TextBox 99"/>
          <p:cNvSpPr txBox="1"/>
          <p:nvPr/>
        </p:nvSpPr>
        <p:spPr>
          <a:xfrm>
            <a:off x="6477000" y="2895600"/>
            <a:ext cx="685800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err="1" smtClean="0"/>
              <a:t>NetAmt</a:t>
            </a:r>
            <a:endParaRPr lang="en-IN" sz="1050" dirty="0" smtClean="0"/>
          </a:p>
        </p:txBody>
      </p:sp>
      <p:cxnSp>
        <p:nvCxnSpPr>
          <p:cNvPr id="101" name="Straight Connector 100"/>
          <p:cNvCxnSpPr/>
          <p:nvPr/>
        </p:nvCxnSpPr>
        <p:spPr>
          <a:xfrm rot="5400000">
            <a:off x="5402828" y="3436372"/>
            <a:ext cx="9307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rot="5400000">
            <a:off x="6622028" y="3436372"/>
            <a:ext cx="9307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7086600" y="2895600"/>
            <a:ext cx="685800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err="1" smtClean="0"/>
              <a:t>PaidAmt</a:t>
            </a:r>
            <a:endParaRPr lang="en-IN" sz="1050" dirty="0" smtClean="0"/>
          </a:p>
        </p:txBody>
      </p:sp>
      <p:cxnSp>
        <p:nvCxnSpPr>
          <p:cNvPr id="104" name="Straight Connector 103"/>
          <p:cNvCxnSpPr/>
          <p:nvPr/>
        </p:nvCxnSpPr>
        <p:spPr>
          <a:xfrm rot="5400000">
            <a:off x="7230040" y="3436372"/>
            <a:ext cx="9307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rot="5400000">
            <a:off x="7763440" y="3436372"/>
            <a:ext cx="9307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rot="5400000">
            <a:off x="8222229" y="3512572"/>
            <a:ext cx="9307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7620000" y="2895600"/>
            <a:ext cx="685800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err="1" smtClean="0"/>
              <a:t>RefAmt</a:t>
            </a:r>
            <a:endParaRPr lang="en-IN" sz="1050" dirty="0" smtClean="0"/>
          </a:p>
        </p:txBody>
      </p:sp>
      <p:sp>
        <p:nvSpPr>
          <p:cNvPr id="108" name="TextBox 107"/>
          <p:cNvSpPr txBox="1"/>
          <p:nvPr/>
        </p:nvSpPr>
        <p:spPr>
          <a:xfrm>
            <a:off x="8229600" y="2895600"/>
            <a:ext cx="685800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Ref%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86800" y="2895600"/>
            <a:ext cx="685800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Delete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676400" y="3886200"/>
            <a:ext cx="68480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OPCCFee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438147" y="3985982"/>
            <a:ext cx="914653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2" name="TextBox 111"/>
          <p:cNvSpPr txBox="1"/>
          <p:nvPr/>
        </p:nvSpPr>
        <p:spPr>
          <a:xfrm>
            <a:off x="3488564" y="3886200"/>
            <a:ext cx="628698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IPCCFee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266947" y="3996752"/>
            <a:ext cx="1067053" cy="19424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4" name="Rectangle 113"/>
          <p:cNvSpPr/>
          <p:nvPr/>
        </p:nvSpPr>
        <p:spPr>
          <a:xfrm>
            <a:off x="6171947" y="4038600"/>
            <a:ext cx="762253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5" name="TextBox 114"/>
          <p:cNvSpPr txBox="1"/>
          <p:nvPr/>
        </p:nvSpPr>
        <p:spPr>
          <a:xfrm>
            <a:off x="1676400" y="4191000"/>
            <a:ext cx="691215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TotalAmt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438400" y="4343400"/>
            <a:ext cx="914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7" name="TextBox 116"/>
          <p:cNvSpPr txBox="1"/>
          <p:nvPr/>
        </p:nvSpPr>
        <p:spPr>
          <a:xfrm>
            <a:off x="3488564" y="4191000"/>
            <a:ext cx="702436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PayMode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267200" y="4343400"/>
            <a:ext cx="1066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9" name="TextBox 118"/>
          <p:cNvSpPr txBox="1"/>
          <p:nvPr/>
        </p:nvSpPr>
        <p:spPr>
          <a:xfrm>
            <a:off x="5410200" y="4191000"/>
            <a:ext cx="657552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Remarks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72200" y="4343400"/>
            <a:ext cx="2819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1" name="TextBox 120"/>
          <p:cNvSpPr txBox="1"/>
          <p:nvPr/>
        </p:nvSpPr>
        <p:spPr>
          <a:xfrm>
            <a:off x="5379137" y="3896970"/>
            <a:ext cx="71686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LabCCFee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38400"/>
            <a:ext cx="1752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19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6200000" flipH="1">
            <a:off x="-1676401" y="3428999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485001"/>
            <a:ext cx="1031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Hospital Logo</a:t>
            </a:r>
            <a:endParaRPr lang="en-I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838200"/>
            <a:ext cx="685800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OP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514600" y="838200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IP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849868"/>
            <a:ext cx="838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LAB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838200"/>
            <a:ext cx="12192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Pharmacy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838200"/>
            <a:ext cx="1143000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 smtClean="0"/>
              <a:t>ADMIN</a:t>
            </a:r>
            <a:endParaRPr lang="en-IN" sz="1400" dirty="0"/>
          </a:p>
        </p:txBody>
      </p:sp>
      <p:sp>
        <p:nvSpPr>
          <p:cNvPr id="11" name="Rectangle 10"/>
          <p:cNvSpPr/>
          <p:nvPr/>
        </p:nvSpPr>
        <p:spPr>
          <a:xfrm>
            <a:off x="1752600" y="1219200"/>
            <a:ext cx="7391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52600" y="1216223"/>
            <a:ext cx="2304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Consultant Doctor Payments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434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14" name="TextBox 13"/>
          <p:cNvSpPr txBox="1"/>
          <p:nvPr/>
        </p:nvSpPr>
        <p:spPr>
          <a:xfrm>
            <a:off x="48768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15" name="TextBox 14"/>
          <p:cNvSpPr txBox="1"/>
          <p:nvPr/>
        </p:nvSpPr>
        <p:spPr>
          <a:xfrm>
            <a:off x="5410200" y="12192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16" name="TextBox 15"/>
          <p:cNvSpPr txBox="1"/>
          <p:nvPr/>
        </p:nvSpPr>
        <p:spPr>
          <a:xfrm>
            <a:off x="5943600" y="12192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6705600" y="12192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7543800" y="123235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sp>
        <p:nvSpPr>
          <p:cNvPr id="19" name="TextBox 18"/>
          <p:cNvSpPr txBox="1"/>
          <p:nvPr/>
        </p:nvSpPr>
        <p:spPr>
          <a:xfrm>
            <a:off x="2057653" y="1447800"/>
            <a:ext cx="761747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From 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4200" y="1623782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0" y="1295400"/>
            <a:ext cx="1334020" cy="38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400" dirty="0" smtClean="0"/>
              <a:t> OP Financials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" y="1609636"/>
            <a:ext cx="15247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OP Financial Reports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OP Quick Reports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CC/Referral Payments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100" dirty="0" smtClean="0"/>
              <a:t>  Consultant Payments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1600200"/>
            <a:ext cx="1524000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4648200" y="1447800"/>
            <a:ext cx="611065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To 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05000" y="1600200"/>
            <a:ext cx="152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52600" y="1828800"/>
            <a:ext cx="12105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Consultant Doctor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4200" y="1981200"/>
            <a:ext cx="2514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5867400" y="1981200"/>
            <a:ext cx="9144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Get Details</a:t>
            </a:r>
            <a:endParaRPr lang="en-IN" sz="800" dirty="0"/>
          </a:p>
        </p:txBody>
      </p:sp>
      <p:sp>
        <p:nvSpPr>
          <p:cNvPr id="29" name="TextBox 28"/>
          <p:cNvSpPr txBox="1"/>
          <p:nvPr/>
        </p:nvSpPr>
        <p:spPr>
          <a:xfrm>
            <a:off x="6858000" y="1447800"/>
            <a:ext cx="110318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Bill Date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Bill No</a:t>
            </a:r>
          </a:p>
          <a:p>
            <a:pPr>
              <a:lnSpc>
                <a:spcPct val="200000"/>
              </a:lnSpc>
            </a:pPr>
            <a:r>
              <a:rPr lang="en-IN" sz="1050" dirty="0" smtClean="0"/>
              <a:t>Expenses Bill No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653" y="2220570"/>
            <a:ext cx="1471878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Calculate Automatically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05000" y="2372970"/>
            <a:ext cx="152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33800" y="2209800"/>
            <a:ext cx="1132041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Calculate Manual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1147" y="2362200"/>
            <a:ext cx="152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05400" y="2209800"/>
            <a:ext cx="909223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Exclude Dues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2747" y="2362200"/>
            <a:ext cx="152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752600" y="3260272"/>
            <a:ext cx="7391400" cy="62592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/>
          <p:cNvSpPr/>
          <p:nvPr/>
        </p:nvSpPr>
        <p:spPr>
          <a:xfrm>
            <a:off x="1752600" y="3031671"/>
            <a:ext cx="7391400" cy="2449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76400" y="2895600"/>
            <a:ext cx="5900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S.No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30683" y="2895600"/>
            <a:ext cx="9747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Service Name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2895600"/>
            <a:ext cx="685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TotalAmt</a:t>
            </a:r>
          </a:p>
        </p:txBody>
      </p:sp>
      <p:cxnSp>
        <p:nvCxnSpPr>
          <p:cNvPr id="41" name="Straight Connector 40"/>
          <p:cNvCxnSpPr/>
          <p:nvPr/>
        </p:nvCxnSpPr>
        <p:spPr>
          <a:xfrm rot="5400000">
            <a:off x="1630929" y="3458140"/>
            <a:ext cx="8545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>
            <a:off x="3534340" y="3458140"/>
            <a:ext cx="8545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4831329" y="3458141"/>
            <a:ext cx="854530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5400000">
            <a:off x="6012429" y="3436372"/>
            <a:ext cx="9307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752600" y="2743200"/>
            <a:ext cx="7391400" cy="244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rot="5400000">
            <a:off x="2553494" y="2856706"/>
            <a:ext cx="228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rot="5400000">
            <a:off x="3696494" y="2856706"/>
            <a:ext cx="228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>
            <a:off x="4915694" y="2856706"/>
            <a:ext cx="228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828800" y="2667000"/>
            <a:ext cx="590003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OP Bills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19400" y="2667000"/>
            <a:ext cx="5900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IP Bills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8600" y="2667000"/>
            <a:ext cx="762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Lab Bills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895600"/>
            <a:ext cx="590003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Bill 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67000" y="2895600"/>
            <a:ext cx="5900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OP No</a:t>
            </a:r>
          </a:p>
        </p:txBody>
      </p:sp>
      <p:cxnSp>
        <p:nvCxnSpPr>
          <p:cNvPr id="54" name="Straight Connector 53"/>
          <p:cNvCxnSpPr/>
          <p:nvPr/>
        </p:nvCxnSpPr>
        <p:spPr>
          <a:xfrm rot="5400000">
            <a:off x="2240528" y="3474472"/>
            <a:ext cx="8545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5400000">
            <a:off x="2773928" y="3474471"/>
            <a:ext cx="8545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219997" y="2895600"/>
            <a:ext cx="8186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err="1" smtClean="0"/>
              <a:t>Reg</a:t>
            </a:r>
            <a:r>
              <a:rPr lang="en-IN" sz="1050" dirty="0" smtClean="0"/>
              <a:t> Date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67400" y="2895600"/>
            <a:ext cx="685800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err="1" smtClean="0"/>
              <a:t>DiscAmt</a:t>
            </a:r>
            <a:endParaRPr lang="en-IN" sz="1050" dirty="0" smtClean="0"/>
          </a:p>
        </p:txBody>
      </p:sp>
      <p:sp>
        <p:nvSpPr>
          <p:cNvPr id="58" name="TextBox 57"/>
          <p:cNvSpPr txBox="1"/>
          <p:nvPr/>
        </p:nvSpPr>
        <p:spPr>
          <a:xfrm>
            <a:off x="6477000" y="2895600"/>
            <a:ext cx="685800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err="1" smtClean="0"/>
              <a:t>NetAmt</a:t>
            </a:r>
            <a:endParaRPr lang="en-IN" sz="1050" dirty="0" smtClean="0"/>
          </a:p>
        </p:txBody>
      </p:sp>
      <p:cxnSp>
        <p:nvCxnSpPr>
          <p:cNvPr id="59" name="Straight Connector 58"/>
          <p:cNvCxnSpPr/>
          <p:nvPr/>
        </p:nvCxnSpPr>
        <p:spPr>
          <a:xfrm rot="5400000">
            <a:off x="5402828" y="3436372"/>
            <a:ext cx="9307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rot="5400000">
            <a:off x="6622028" y="3436372"/>
            <a:ext cx="9307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086600" y="2895600"/>
            <a:ext cx="685800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err="1" smtClean="0"/>
              <a:t>PaidAmt</a:t>
            </a:r>
            <a:endParaRPr lang="en-IN" sz="1050" dirty="0" smtClean="0"/>
          </a:p>
        </p:txBody>
      </p:sp>
      <p:cxnSp>
        <p:nvCxnSpPr>
          <p:cNvPr id="62" name="Straight Connector 61"/>
          <p:cNvCxnSpPr/>
          <p:nvPr/>
        </p:nvCxnSpPr>
        <p:spPr>
          <a:xfrm rot="5400000">
            <a:off x="7230040" y="3436372"/>
            <a:ext cx="9307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rot="5400000">
            <a:off x="7763440" y="3436372"/>
            <a:ext cx="9307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rot="5400000">
            <a:off x="8222229" y="3512572"/>
            <a:ext cx="930731" cy="15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620000" y="2895600"/>
            <a:ext cx="762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err="1" smtClean="0"/>
              <a:t>ConsltAmt</a:t>
            </a:r>
            <a:endParaRPr lang="en-IN" sz="1050" dirty="0" smtClean="0"/>
          </a:p>
        </p:txBody>
      </p:sp>
      <p:sp>
        <p:nvSpPr>
          <p:cNvPr id="66" name="TextBox 65"/>
          <p:cNvSpPr txBox="1"/>
          <p:nvPr/>
        </p:nvSpPr>
        <p:spPr>
          <a:xfrm>
            <a:off x="8229600" y="2895600"/>
            <a:ext cx="685800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err="1" smtClean="0"/>
              <a:t>Conslt</a:t>
            </a:r>
            <a:r>
              <a:rPr lang="en-IN" sz="1050" dirty="0" smtClean="0"/>
              <a:t>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2895600"/>
            <a:ext cx="685800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Delete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76400" y="3886200"/>
            <a:ext cx="1116011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err="1" smtClean="0"/>
              <a:t>OPConltPayment</a:t>
            </a:r>
            <a:endParaRPr lang="en-IN" sz="1050" dirty="0" smtClean="0"/>
          </a:p>
        </p:txBody>
      </p:sp>
      <p:sp>
        <p:nvSpPr>
          <p:cNvPr id="69" name="Rectangle 68"/>
          <p:cNvSpPr/>
          <p:nvPr/>
        </p:nvSpPr>
        <p:spPr>
          <a:xfrm>
            <a:off x="2895094" y="3985982"/>
            <a:ext cx="914653" cy="20501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0" name="TextBox 69"/>
          <p:cNvSpPr txBox="1"/>
          <p:nvPr/>
        </p:nvSpPr>
        <p:spPr>
          <a:xfrm>
            <a:off x="1676400" y="4114800"/>
            <a:ext cx="1164101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err="1" smtClean="0"/>
              <a:t>IPServicePayment</a:t>
            </a:r>
            <a:endParaRPr lang="en-IN" sz="1050" dirty="0" smtClean="0"/>
          </a:p>
        </p:txBody>
      </p:sp>
      <p:sp>
        <p:nvSpPr>
          <p:cNvPr id="71" name="Rectangle 70"/>
          <p:cNvSpPr/>
          <p:nvPr/>
        </p:nvSpPr>
        <p:spPr>
          <a:xfrm>
            <a:off x="2895347" y="4267200"/>
            <a:ext cx="914653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3" name="TextBox 72"/>
          <p:cNvSpPr txBox="1"/>
          <p:nvPr/>
        </p:nvSpPr>
        <p:spPr>
          <a:xfrm>
            <a:off x="3962400" y="3886200"/>
            <a:ext cx="691215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TotalAmt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24400" y="4038600"/>
            <a:ext cx="1066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5" name="TextBox 74"/>
          <p:cNvSpPr txBox="1"/>
          <p:nvPr/>
        </p:nvSpPr>
        <p:spPr>
          <a:xfrm>
            <a:off x="3962400" y="4191000"/>
            <a:ext cx="702436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PayMode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724400" y="4343400"/>
            <a:ext cx="1066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7" name="TextBox 76"/>
          <p:cNvSpPr txBox="1"/>
          <p:nvPr/>
        </p:nvSpPr>
        <p:spPr>
          <a:xfrm>
            <a:off x="3962400" y="4495800"/>
            <a:ext cx="657552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smtClean="0"/>
              <a:t>Remarks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24400" y="4648200"/>
            <a:ext cx="2819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0" name="TextBox 79"/>
          <p:cNvSpPr txBox="1"/>
          <p:nvPr/>
        </p:nvSpPr>
        <p:spPr>
          <a:xfrm>
            <a:off x="1676400" y="4419600"/>
            <a:ext cx="1189749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050" dirty="0" err="1" smtClean="0"/>
              <a:t>LabInvestPayment</a:t>
            </a:r>
            <a:endParaRPr lang="en-IN" sz="1050" dirty="0" smtClean="0"/>
          </a:p>
        </p:txBody>
      </p:sp>
      <p:sp>
        <p:nvSpPr>
          <p:cNvPr id="81" name="Rectangle 80"/>
          <p:cNvSpPr/>
          <p:nvPr/>
        </p:nvSpPr>
        <p:spPr>
          <a:xfrm>
            <a:off x="2895347" y="4572000"/>
            <a:ext cx="914653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19200"/>
            <a:ext cx="1371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447800" y="1219200"/>
            <a:ext cx="60198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000" b="1" dirty="0" smtClean="0">
                <a:solidFill>
                  <a:schemeClr val="tx1"/>
                </a:solidFill>
              </a:rPr>
              <a:t>Reg Date : 15/02/2024 14;13 pm</a:t>
            </a:r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rot="16200000" flipH="1">
            <a:off x="-1981201" y="34290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>
            <a:off x="4495800" y="3961606"/>
            <a:ext cx="594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533400"/>
            <a:ext cx="685800" cy="27699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solidFill>
                  <a:schemeClr val="tx1"/>
                </a:solidFill>
              </a:rPr>
              <a:t>OP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09800" y="533400"/>
            <a:ext cx="609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IP</a:t>
            </a:r>
            <a:endParaRPr lang="en-IN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2895600" y="545068"/>
            <a:ext cx="609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LAB</a:t>
            </a:r>
            <a:endParaRPr lang="en-IN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3581400" y="561201"/>
            <a:ext cx="9906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Pharmacy</a:t>
            </a:r>
            <a:endParaRPr lang="en-IN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4648200" y="561201"/>
            <a:ext cx="10668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Doctor Desk</a:t>
            </a:r>
            <a:endParaRPr lang="en-IN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-76200" y="898267"/>
            <a:ext cx="1298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400" b="1" dirty="0" smtClean="0">
                <a:solidFill>
                  <a:schemeClr val="accent1">
                    <a:lumMod val="50000"/>
                  </a:schemeClr>
                </a:solidFill>
              </a:rPr>
              <a:t> Transactions</a:t>
            </a:r>
            <a:endParaRPr lang="en-IN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1600200"/>
            <a:ext cx="146642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400" dirty="0" smtClean="0"/>
              <a:t> OP Consultation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1400" dirty="0" smtClean="0"/>
              <a:t> New Form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1203067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478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16" name="TextBox 15"/>
          <p:cNvSpPr txBox="1"/>
          <p:nvPr/>
        </p:nvSpPr>
        <p:spPr>
          <a:xfrm>
            <a:off x="19812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2514600" y="956846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18" name="TextBox 17"/>
          <p:cNvSpPr txBox="1"/>
          <p:nvPr/>
        </p:nvSpPr>
        <p:spPr>
          <a:xfrm>
            <a:off x="3048000" y="956846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0" y="974467"/>
            <a:ext cx="685800" cy="21544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PrintBill</a:t>
            </a:r>
            <a:endParaRPr lang="en-IN" sz="8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0" y="974467"/>
            <a:ext cx="12954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Print Prescription</a:t>
            </a:r>
            <a:endParaRPr lang="en-IN" sz="800" dirty="0"/>
          </a:p>
        </p:txBody>
      </p:sp>
      <p:sp>
        <p:nvSpPr>
          <p:cNvPr id="21" name="TextBox 20"/>
          <p:cNvSpPr txBox="1"/>
          <p:nvPr/>
        </p:nvSpPr>
        <p:spPr>
          <a:xfrm>
            <a:off x="5943600" y="974467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PrintLabel</a:t>
            </a:r>
            <a:endParaRPr lang="en-IN" sz="800" dirty="0"/>
          </a:p>
        </p:txBody>
      </p:sp>
      <p:sp>
        <p:nvSpPr>
          <p:cNvPr id="22" name="TextBox 21"/>
          <p:cNvSpPr txBox="1"/>
          <p:nvPr/>
        </p:nvSpPr>
        <p:spPr>
          <a:xfrm>
            <a:off x="1371601" y="1460101"/>
            <a:ext cx="11430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100" dirty="0" smtClean="0"/>
              <a:t>Mobile No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Patient Name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Patient Age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Relation Name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Relation Age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Marital Status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Address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Complainants 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Pat Category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Note on Pres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62200" y="15240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3048000" y="17526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Patient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62200" y="17526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648200" y="17526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Sur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362200" y="1981200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Age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648200" y="19812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Male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362200" y="2971800"/>
            <a:ext cx="3276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Address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038600" y="1955884"/>
            <a:ext cx="5982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Gender</a:t>
            </a:r>
            <a:endParaRPr lang="en-IN" sz="1050" b="1" dirty="0"/>
          </a:p>
        </p:txBody>
      </p:sp>
      <p:sp>
        <p:nvSpPr>
          <p:cNvPr id="31" name="Rectangle 30"/>
          <p:cNvSpPr/>
          <p:nvPr/>
        </p:nvSpPr>
        <p:spPr>
          <a:xfrm>
            <a:off x="3276600" y="1981200"/>
            <a:ext cx="762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Years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48000" y="22098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Relation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362200" y="22098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S/o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362200" y="2743200"/>
            <a:ext cx="1676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Married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71600" y="4390318"/>
            <a:ext cx="1000595" cy="1304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Referral Type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Referral Name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Consult Doctor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Department 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Specialization</a:t>
            </a:r>
            <a:endParaRPr lang="en-IN" sz="1050" dirty="0"/>
          </a:p>
        </p:txBody>
      </p:sp>
      <p:sp>
        <p:nvSpPr>
          <p:cNvPr id="36" name="Rectangle 35"/>
          <p:cNvSpPr/>
          <p:nvPr/>
        </p:nvSpPr>
        <p:spPr>
          <a:xfrm>
            <a:off x="2514600" y="4475321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Self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514600" y="4703921"/>
            <a:ext cx="1981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514600" y="4932521"/>
            <a:ext cx="1981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514600" y="5161121"/>
            <a:ext cx="1981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514600" y="5465921"/>
            <a:ext cx="1981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648200" y="4703921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Add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648200" y="4932521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Add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648200" y="5161121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Add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648200" y="5465921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Add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36926" y="5618321"/>
            <a:ext cx="6158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 smtClean="0"/>
              <a:t>General</a:t>
            </a:r>
            <a:endParaRPr lang="en-IN" sz="1050" dirty="0"/>
          </a:p>
        </p:txBody>
      </p:sp>
      <p:sp>
        <p:nvSpPr>
          <p:cNvPr id="46" name="TextBox 45"/>
          <p:cNvSpPr txBox="1"/>
          <p:nvPr/>
        </p:nvSpPr>
        <p:spPr>
          <a:xfrm>
            <a:off x="3810000" y="5609518"/>
            <a:ext cx="7922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 smtClean="0"/>
              <a:t>Emergency</a:t>
            </a:r>
            <a:endParaRPr lang="en-IN" sz="1050" dirty="0"/>
          </a:p>
        </p:txBody>
      </p:sp>
      <p:sp>
        <p:nvSpPr>
          <p:cNvPr id="47" name="Rectangle 46"/>
          <p:cNvSpPr/>
          <p:nvPr/>
        </p:nvSpPr>
        <p:spPr>
          <a:xfrm>
            <a:off x="4267200" y="4475321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Referral ID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12791" y="4348237"/>
            <a:ext cx="688009" cy="8194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Total Fee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Disc Amt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Disc 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77000" y="4466518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477000" y="4695118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77000" y="4923718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712791" y="5034037"/>
            <a:ext cx="679994" cy="794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Net Amt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Paid Amt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Due Amt</a:t>
            </a:r>
            <a:endParaRPr lang="en-IN" sz="1050" dirty="0"/>
          </a:p>
        </p:txBody>
      </p:sp>
      <p:sp>
        <p:nvSpPr>
          <p:cNvPr id="53" name="Rectangle 52"/>
          <p:cNvSpPr/>
          <p:nvPr/>
        </p:nvSpPr>
        <p:spPr>
          <a:xfrm>
            <a:off x="6477000" y="5131080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477000" y="5359680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477000" y="5609518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733800" y="6019800"/>
            <a:ext cx="574196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Disc By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19600" y="6096000"/>
            <a:ext cx="1371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Authorization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362200" y="3505200"/>
            <a:ext cx="1219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733800" y="6319763"/>
            <a:ext cx="657552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Remarks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19600" y="6395963"/>
            <a:ext cx="2971800" cy="157237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Reasons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371600" y="5948437"/>
            <a:ext cx="732893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Pay Mode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14600" y="6100837"/>
            <a:ext cx="1143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Cash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447800" y="4119637"/>
            <a:ext cx="60198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4" name="TextBox 63"/>
          <p:cNvSpPr txBox="1"/>
          <p:nvPr/>
        </p:nvSpPr>
        <p:spPr>
          <a:xfrm>
            <a:off x="3124200" y="4119637"/>
            <a:ext cx="11623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Patient Address</a:t>
            </a:r>
            <a:endParaRPr lang="en-IN" sz="1200" dirty="0"/>
          </a:p>
        </p:txBody>
      </p:sp>
      <p:sp>
        <p:nvSpPr>
          <p:cNvPr id="65" name="TextBox 64"/>
          <p:cNvSpPr txBox="1"/>
          <p:nvPr/>
        </p:nvSpPr>
        <p:spPr>
          <a:xfrm>
            <a:off x="4343400" y="4119637"/>
            <a:ext cx="1776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Patient Secondary Details</a:t>
            </a:r>
            <a:endParaRPr lang="en-IN" sz="1200" dirty="0"/>
          </a:p>
        </p:txBody>
      </p:sp>
      <p:cxnSp>
        <p:nvCxnSpPr>
          <p:cNvPr id="66" name="Straight Connector 65"/>
          <p:cNvCxnSpPr/>
          <p:nvPr/>
        </p:nvCxnSpPr>
        <p:spPr>
          <a:xfrm rot="5400000">
            <a:off x="3010297" y="4233540"/>
            <a:ext cx="228600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rot="5400000">
            <a:off x="4229497" y="4233540"/>
            <a:ext cx="228600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rot="5400000">
            <a:off x="5982097" y="4233540"/>
            <a:ext cx="228600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447800" y="4119637"/>
            <a:ext cx="1594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Patient Consult Details</a:t>
            </a:r>
            <a:endParaRPr lang="en-IN" sz="1200" dirty="0"/>
          </a:p>
        </p:txBody>
      </p:sp>
      <p:sp>
        <p:nvSpPr>
          <p:cNvPr id="70" name="Rectangle 69"/>
          <p:cNvSpPr/>
          <p:nvPr/>
        </p:nvSpPr>
        <p:spPr>
          <a:xfrm>
            <a:off x="2362200" y="3200400"/>
            <a:ext cx="3276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Chief Complaints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781800" y="974467"/>
            <a:ext cx="685800" cy="200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sz="700" dirty="0"/>
          </a:p>
        </p:txBody>
      </p:sp>
      <p:sp>
        <p:nvSpPr>
          <p:cNvPr id="72" name="TextBox 71"/>
          <p:cNvSpPr txBox="1"/>
          <p:nvPr/>
        </p:nvSpPr>
        <p:spPr>
          <a:xfrm>
            <a:off x="1388627" y="6253237"/>
            <a:ext cx="668773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UPI Type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14600" y="6405637"/>
            <a:ext cx="1143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Phone pay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791200" y="3810000"/>
            <a:ext cx="1524000" cy="230832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900" dirty="0" smtClean="0">
                <a:solidFill>
                  <a:schemeClr val="tx1"/>
                </a:solidFill>
              </a:rPr>
              <a:t>Patient Record Upload</a:t>
            </a:r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421916" y="1170801"/>
            <a:ext cx="1245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OP Registration  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514600" y="5694521"/>
            <a:ext cx="152400" cy="10151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657600" y="5694521"/>
            <a:ext cx="152400" cy="10151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056715" y="1447800"/>
            <a:ext cx="11352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 smtClean="0">
                <a:solidFill>
                  <a:srgbClr val="FF0000"/>
                </a:solidFill>
              </a:rPr>
              <a:t>OP Consultation</a:t>
            </a:r>
            <a:endParaRPr lang="en-IN" sz="1100" b="1" dirty="0">
              <a:solidFill>
                <a:srgbClr val="FF0000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791200" y="561201"/>
            <a:ext cx="914400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ADMIN</a:t>
            </a:r>
            <a:endParaRPr lang="en-IN" sz="1200" dirty="0"/>
          </a:p>
        </p:txBody>
      </p:sp>
      <p:cxnSp>
        <p:nvCxnSpPr>
          <p:cNvPr id="82" name="Straight Connector 81"/>
          <p:cNvCxnSpPr/>
          <p:nvPr/>
        </p:nvCxnSpPr>
        <p:spPr>
          <a:xfrm rot="5400000">
            <a:off x="4725194" y="4037806"/>
            <a:ext cx="5638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543800" y="9906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</a:t>
            </a:r>
            <a:endParaRPr lang="en-IN" sz="800" dirty="0"/>
          </a:p>
        </p:txBody>
      </p:sp>
      <p:sp>
        <p:nvSpPr>
          <p:cNvPr id="92" name="TextBox 91"/>
          <p:cNvSpPr txBox="1"/>
          <p:nvPr/>
        </p:nvSpPr>
        <p:spPr>
          <a:xfrm>
            <a:off x="8382000" y="9906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cxnSp>
        <p:nvCxnSpPr>
          <p:cNvPr id="93" name="Straight Connector 92"/>
          <p:cNvCxnSpPr/>
          <p:nvPr/>
        </p:nvCxnSpPr>
        <p:spPr>
          <a:xfrm rot="16200000" flipH="1">
            <a:off x="-2057399" y="3429000"/>
            <a:ext cx="68580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8077200" y="228600"/>
            <a:ext cx="609600" cy="38100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Logout</a:t>
            </a:r>
            <a:endParaRPr lang="en-IN" sz="105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924800" y="609600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 smtClean="0">
                <a:solidFill>
                  <a:schemeClr val="accent1">
                    <a:lumMod val="50000"/>
                  </a:schemeClr>
                </a:solidFill>
              </a:rPr>
              <a:t>User Name</a:t>
            </a:r>
            <a:endParaRPr lang="en-IN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971800" y="11668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Verdana" pitchFamily="34" charset="0"/>
                <a:ea typeface="Verdana" pitchFamily="34" charset="0"/>
              </a:rPr>
              <a:t>Hospital Management System</a:t>
            </a:r>
            <a:endParaRPr lang="en-IN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648200" y="22098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Sur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2362200" y="2514600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Age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4648200" y="2463716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Male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038600" y="2413084"/>
            <a:ext cx="5982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Gender</a:t>
            </a:r>
            <a:endParaRPr lang="en-IN" sz="1050" b="1" dirty="0"/>
          </a:p>
        </p:txBody>
      </p:sp>
      <p:sp>
        <p:nvSpPr>
          <p:cNvPr id="101" name="Rectangle 100"/>
          <p:cNvSpPr/>
          <p:nvPr/>
        </p:nvSpPr>
        <p:spPr>
          <a:xfrm>
            <a:off x="3276600" y="2514600"/>
            <a:ext cx="762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Years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638800" y="1425223"/>
            <a:ext cx="838200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UHID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OP No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Visit No 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Bill No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Token NO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Review No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24600" y="1551310"/>
            <a:ext cx="914400" cy="12509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4" name="Rectangle 103"/>
          <p:cNvSpPr/>
          <p:nvPr/>
        </p:nvSpPr>
        <p:spPr>
          <a:xfrm>
            <a:off x="6324600" y="1779910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5" name="Rectangle 104"/>
          <p:cNvSpPr/>
          <p:nvPr/>
        </p:nvSpPr>
        <p:spPr>
          <a:xfrm>
            <a:off x="6324600" y="2008510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6" name="Rectangle 105"/>
          <p:cNvSpPr/>
          <p:nvPr/>
        </p:nvSpPr>
        <p:spPr>
          <a:xfrm>
            <a:off x="6324600" y="2237110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7" name="Rectangle 106"/>
          <p:cNvSpPr/>
          <p:nvPr/>
        </p:nvSpPr>
        <p:spPr>
          <a:xfrm>
            <a:off x="6324600" y="2487052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8" name="Rectangle 107"/>
          <p:cNvSpPr/>
          <p:nvPr/>
        </p:nvSpPr>
        <p:spPr>
          <a:xfrm>
            <a:off x="6324600" y="2715652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9" name="Rectangle 108"/>
          <p:cNvSpPr/>
          <p:nvPr/>
        </p:nvSpPr>
        <p:spPr>
          <a:xfrm>
            <a:off x="6172200" y="2971800"/>
            <a:ext cx="10668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Photo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1447800" y="5872237"/>
            <a:ext cx="6019800" cy="76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1" name="Rectangle 110"/>
          <p:cNvSpPr/>
          <p:nvPr/>
        </p:nvSpPr>
        <p:spPr>
          <a:xfrm>
            <a:off x="4648200" y="27432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Date of birth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038600" y="2717884"/>
            <a:ext cx="4363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DOB</a:t>
            </a:r>
            <a:endParaRPr lang="en-IN" sz="1050" b="1" dirty="0"/>
          </a:p>
        </p:txBody>
      </p:sp>
      <p:sp>
        <p:nvSpPr>
          <p:cNvPr id="113" name="Rectangle 112"/>
          <p:cNvSpPr/>
          <p:nvPr/>
        </p:nvSpPr>
        <p:spPr>
          <a:xfrm>
            <a:off x="4572000" y="3505200"/>
            <a:ext cx="1066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3586577" y="3424163"/>
            <a:ext cx="909223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Sub Category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362200" y="3810000"/>
            <a:ext cx="3276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Note on Prescription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5791200" y="29718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c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5791200" y="34290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52"/>
          <p:cNvSpPr/>
          <p:nvPr/>
        </p:nvSpPr>
        <p:spPr>
          <a:xfrm>
            <a:off x="457200" y="914400"/>
            <a:ext cx="8534400" cy="5867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457200" y="1219200"/>
            <a:ext cx="8534400" cy="228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000" b="1" dirty="0" smtClean="0">
                <a:solidFill>
                  <a:schemeClr val="tx1"/>
                </a:solidFill>
              </a:rPr>
              <a:t>Reg Date : 15/02/2024 14;13 pm</a:t>
            </a:r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81200" y="15240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667000" y="18288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Patient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81200" y="18288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67199" y="1828800"/>
            <a:ext cx="1415143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Sur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81200" y="2133600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Age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67199" y="2133600"/>
            <a:ext cx="1415143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Male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81199" y="2819400"/>
            <a:ext cx="3733801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Address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0" y="2108284"/>
            <a:ext cx="5982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Gender</a:t>
            </a:r>
            <a:endParaRPr lang="en-IN" sz="1050" b="1" dirty="0"/>
          </a:p>
        </p:txBody>
      </p:sp>
      <p:sp>
        <p:nvSpPr>
          <p:cNvPr id="11" name="Rectangle 10"/>
          <p:cNvSpPr/>
          <p:nvPr/>
        </p:nvSpPr>
        <p:spPr>
          <a:xfrm>
            <a:off x="2895600" y="2133600"/>
            <a:ext cx="762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Years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67000" y="2362200"/>
            <a:ext cx="3048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Relation Name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981200" y="23622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S/o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81200" y="2590800"/>
            <a:ext cx="1676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Married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390318"/>
            <a:ext cx="1000595" cy="1304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Referral Type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Referral Name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Consult Doctor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Department 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Specialization</a:t>
            </a:r>
            <a:endParaRPr lang="en-IN" sz="1050" dirty="0"/>
          </a:p>
        </p:txBody>
      </p:sp>
      <p:sp>
        <p:nvSpPr>
          <p:cNvPr id="16" name="Rectangle 15"/>
          <p:cNvSpPr/>
          <p:nvPr/>
        </p:nvSpPr>
        <p:spPr>
          <a:xfrm>
            <a:off x="1905000" y="44958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dirty="0" smtClean="0">
                <a:solidFill>
                  <a:schemeClr val="bg2">
                    <a:lumMod val="75000"/>
                  </a:schemeClr>
                </a:solidFill>
              </a:rPr>
              <a:t>Self</a:t>
            </a:r>
            <a:endParaRPr lang="en-IN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05000" y="4724400"/>
            <a:ext cx="2133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05000" y="4953000"/>
            <a:ext cx="2133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905000" y="5181600"/>
            <a:ext cx="2133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971800" y="44958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Ref Id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191000" y="47244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Add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191000" y="49530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Add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91000" y="51816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Add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3321" y="5765884"/>
            <a:ext cx="6158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 smtClean="0"/>
              <a:t>General</a:t>
            </a:r>
            <a:endParaRPr lang="en-IN" sz="1050" dirty="0"/>
          </a:p>
        </p:txBody>
      </p:sp>
      <p:sp>
        <p:nvSpPr>
          <p:cNvPr id="26" name="TextBox 25"/>
          <p:cNvSpPr txBox="1"/>
          <p:nvPr/>
        </p:nvSpPr>
        <p:spPr>
          <a:xfrm>
            <a:off x="3246395" y="5757081"/>
            <a:ext cx="7922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 smtClean="0"/>
              <a:t>Emergency</a:t>
            </a:r>
            <a:endParaRPr lang="en-IN" sz="1050" dirty="0"/>
          </a:p>
        </p:txBody>
      </p:sp>
      <p:sp>
        <p:nvSpPr>
          <p:cNvPr id="28" name="TextBox 27"/>
          <p:cNvSpPr txBox="1"/>
          <p:nvPr/>
        </p:nvSpPr>
        <p:spPr>
          <a:xfrm>
            <a:off x="4953000" y="4362145"/>
            <a:ext cx="688009" cy="8194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Total Fee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Disc Amt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Disc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4499171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715000" y="4727771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715000" y="4956371"/>
            <a:ext cx="838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53000" y="5124145"/>
            <a:ext cx="679994" cy="8194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Net Amt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Paid Amt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Due Amt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5236562"/>
            <a:ext cx="931333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715000" y="5465162"/>
            <a:ext cx="931333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715000" y="5715000"/>
            <a:ext cx="931333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76248" y="6096000"/>
            <a:ext cx="574196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Disc By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10000" y="61722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Authorization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810000" y="65532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Reasons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3400" y="6091163"/>
            <a:ext cx="732893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Pay Mode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6167363"/>
            <a:ext cx="838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Cash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4119637"/>
            <a:ext cx="8534400" cy="22376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TextBox 42"/>
          <p:cNvSpPr txBox="1"/>
          <p:nvPr/>
        </p:nvSpPr>
        <p:spPr>
          <a:xfrm>
            <a:off x="2133600" y="4119637"/>
            <a:ext cx="11623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Patient Address</a:t>
            </a:r>
            <a:endParaRPr lang="en-IN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3352800" y="4119637"/>
            <a:ext cx="1776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Patient Secondary Details</a:t>
            </a:r>
            <a:endParaRPr lang="en-IN" sz="1200" dirty="0"/>
          </a:p>
        </p:txBody>
      </p:sp>
      <p:cxnSp>
        <p:nvCxnSpPr>
          <p:cNvPr id="45" name="Straight Connector 44"/>
          <p:cNvCxnSpPr/>
          <p:nvPr/>
        </p:nvCxnSpPr>
        <p:spPr>
          <a:xfrm rot="5400000">
            <a:off x="2019697" y="4233540"/>
            <a:ext cx="228600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rot="5400000">
            <a:off x="3238897" y="4233540"/>
            <a:ext cx="228600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rot="5400000">
            <a:off x="4991497" y="4233540"/>
            <a:ext cx="228600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4119637"/>
            <a:ext cx="1594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Patient Consult Details</a:t>
            </a:r>
            <a:endParaRPr lang="en-IN" sz="1200" dirty="0"/>
          </a:p>
        </p:txBody>
      </p:sp>
      <p:sp>
        <p:nvSpPr>
          <p:cNvPr id="49" name="Rectangle 48"/>
          <p:cNvSpPr/>
          <p:nvPr/>
        </p:nvSpPr>
        <p:spPr>
          <a:xfrm>
            <a:off x="1905000" y="3581400"/>
            <a:ext cx="3733801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Chief Complaints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400" y="6395963"/>
            <a:ext cx="668773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UPI Type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0" y="6472163"/>
            <a:ext cx="838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Phone pay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248400" y="3810000"/>
            <a:ext cx="1524000" cy="230832"/>
          </a:xfrm>
          <a:prstGeom prst="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900" dirty="0" smtClean="0">
                <a:solidFill>
                  <a:schemeClr val="tx1"/>
                </a:solidFill>
              </a:rPr>
              <a:t>Patient Record Upload</a:t>
            </a:r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31316" y="1170801"/>
            <a:ext cx="125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OP Consultation 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950995" y="5842084"/>
            <a:ext cx="152400" cy="10151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093995" y="5842084"/>
            <a:ext cx="152400" cy="10151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905000" y="3776990"/>
            <a:ext cx="11352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 smtClean="0">
                <a:solidFill>
                  <a:srgbClr val="FF0000"/>
                </a:solidFill>
              </a:rPr>
              <a:t>OP Consultation</a:t>
            </a:r>
            <a:endParaRPr lang="en-IN" sz="1100" b="1" dirty="0">
              <a:solidFill>
                <a:srgbClr val="FF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096000" y="1425223"/>
            <a:ext cx="838200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MR No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OP No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Visit No 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Bill No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Token NO</a:t>
            </a:r>
          </a:p>
          <a:p>
            <a:pPr>
              <a:lnSpc>
                <a:spcPct val="150000"/>
              </a:lnSpc>
            </a:pPr>
            <a:r>
              <a:rPr lang="en-IN" sz="1050" dirty="0" smtClean="0"/>
              <a:t>Review 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58000" y="1551310"/>
            <a:ext cx="914400" cy="12509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4" name="Rectangle 63"/>
          <p:cNvSpPr/>
          <p:nvPr/>
        </p:nvSpPr>
        <p:spPr>
          <a:xfrm>
            <a:off x="6858000" y="1779910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5" name="Rectangle 64"/>
          <p:cNvSpPr/>
          <p:nvPr/>
        </p:nvSpPr>
        <p:spPr>
          <a:xfrm>
            <a:off x="6858000" y="2008510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6" name="Rectangle 65"/>
          <p:cNvSpPr/>
          <p:nvPr/>
        </p:nvSpPr>
        <p:spPr>
          <a:xfrm>
            <a:off x="6858000" y="2237110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7" name="Rectangle 66"/>
          <p:cNvSpPr/>
          <p:nvPr/>
        </p:nvSpPr>
        <p:spPr>
          <a:xfrm>
            <a:off x="6858000" y="2487052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8" name="Rectangle 67"/>
          <p:cNvSpPr/>
          <p:nvPr/>
        </p:nvSpPr>
        <p:spPr>
          <a:xfrm>
            <a:off x="6858000" y="2715652"/>
            <a:ext cx="914400" cy="12509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9" name="Rectangle 68"/>
          <p:cNvSpPr/>
          <p:nvPr/>
        </p:nvSpPr>
        <p:spPr>
          <a:xfrm>
            <a:off x="6705600" y="2971800"/>
            <a:ext cx="10668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Photo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267199" y="2590800"/>
            <a:ext cx="1415143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Date of birth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657600" y="2565484"/>
            <a:ext cx="4363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DOB</a:t>
            </a:r>
            <a:endParaRPr lang="en-IN" sz="1050" b="1" dirty="0"/>
          </a:p>
        </p:txBody>
      </p:sp>
      <p:sp>
        <p:nvSpPr>
          <p:cNvPr id="74" name="Rectangle 73"/>
          <p:cNvSpPr/>
          <p:nvPr/>
        </p:nvSpPr>
        <p:spPr>
          <a:xfrm>
            <a:off x="1981200" y="3352800"/>
            <a:ext cx="1676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Aadhar Card No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6248400" y="29718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c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248400" y="34290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R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57200" y="1460101"/>
            <a:ext cx="1752600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100" dirty="0" smtClean="0"/>
              <a:t>Mobile No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Patient Name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Patient Age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Relation Name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Marital Status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Address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Are/</a:t>
            </a:r>
            <a:r>
              <a:rPr lang="en-IN" sz="1100" dirty="0" err="1" smtClean="0"/>
              <a:t>Mandal</a:t>
            </a:r>
            <a:endParaRPr lang="en-IN" sz="1100" dirty="0" smtClean="0"/>
          </a:p>
          <a:p>
            <a:pPr>
              <a:lnSpc>
                <a:spcPct val="150000"/>
              </a:lnSpc>
            </a:pPr>
            <a:r>
              <a:rPr lang="en-IN" sz="1100" dirty="0" smtClean="0"/>
              <a:t>Aadhar Number</a:t>
            </a:r>
          </a:p>
          <a:p>
            <a:pPr>
              <a:lnSpc>
                <a:spcPct val="150000"/>
              </a:lnSpc>
            </a:pPr>
            <a:r>
              <a:rPr lang="en-IN" sz="1100" dirty="0" smtClean="0"/>
              <a:t>Note on Prescription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257800" y="4114800"/>
            <a:ext cx="2615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rgbClr val="FF0000"/>
                </a:solidFill>
              </a:rPr>
              <a:t>Last Visit : Dr Name </a:t>
            </a:r>
            <a:r>
              <a:rPr lang="en-IN" sz="1200" dirty="0" err="1" smtClean="0">
                <a:solidFill>
                  <a:srgbClr val="FF0000"/>
                </a:solidFill>
              </a:rPr>
              <a:t>Reg</a:t>
            </a:r>
            <a:r>
              <a:rPr lang="en-IN" sz="1200" dirty="0" smtClean="0">
                <a:solidFill>
                  <a:srgbClr val="FF0000"/>
                </a:solidFill>
              </a:rPr>
              <a:t> Date and Time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457200" y="9144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New</a:t>
            </a:r>
            <a:endParaRPr lang="en-IN" sz="800" dirty="0"/>
          </a:p>
        </p:txBody>
      </p:sp>
      <p:sp>
        <p:nvSpPr>
          <p:cNvPr id="157" name="TextBox 156"/>
          <p:cNvSpPr txBox="1"/>
          <p:nvPr/>
        </p:nvSpPr>
        <p:spPr>
          <a:xfrm>
            <a:off x="914400" y="9144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Edit</a:t>
            </a:r>
            <a:endParaRPr lang="en-IN" sz="800" dirty="0"/>
          </a:p>
        </p:txBody>
      </p:sp>
      <p:sp>
        <p:nvSpPr>
          <p:cNvPr id="158" name="TextBox 157"/>
          <p:cNvSpPr txBox="1"/>
          <p:nvPr/>
        </p:nvSpPr>
        <p:spPr>
          <a:xfrm>
            <a:off x="1371600" y="914400"/>
            <a:ext cx="4572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Save</a:t>
            </a:r>
            <a:endParaRPr lang="en-IN" sz="800" dirty="0"/>
          </a:p>
        </p:txBody>
      </p:sp>
      <p:sp>
        <p:nvSpPr>
          <p:cNvPr id="159" name="TextBox 158"/>
          <p:cNvSpPr txBox="1"/>
          <p:nvPr/>
        </p:nvSpPr>
        <p:spPr>
          <a:xfrm>
            <a:off x="1828800" y="9144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Cancel</a:t>
            </a:r>
            <a:endParaRPr lang="en-IN" sz="800" dirty="0"/>
          </a:p>
        </p:txBody>
      </p:sp>
      <p:sp>
        <p:nvSpPr>
          <p:cNvPr id="160" name="TextBox 159"/>
          <p:cNvSpPr txBox="1"/>
          <p:nvPr/>
        </p:nvSpPr>
        <p:spPr>
          <a:xfrm>
            <a:off x="2438400" y="914400"/>
            <a:ext cx="685800" cy="21544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PrintBill</a:t>
            </a:r>
            <a:endParaRPr lang="en-IN" sz="800" dirty="0"/>
          </a:p>
        </p:txBody>
      </p:sp>
      <p:sp>
        <p:nvSpPr>
          <p:cNvPr id="161" name="TextBox 160"/>
          <p:cNvSpPr txBox="1"/>
          <p:nvPr/>
        </p:nvSpPr>
        <p:spPr>
          <a:xfrm>
            <a:off x="3124200" y="914400"/>
            <a:ext cx="1143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Print Prescription</a:t>
            </a:r>
            <a:endParaRPr lang="en-IN" sz="800" dirty="0"/>
          </a:p>
        </p:txBody>
      </p:sp>
      <p:sp>
        <p:nvSpPr>
          <p:cNvPr id="162" name="TextBox 161"/>
          <p:cNvSpPr txBox="1"/>
          <p:nvPr/>
        </p:nvSpPr>
        <p:spPr>
          <a:xfrm>
            <a:off x="4572000" y="914400"/>
            <a:ext cx="7620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PrintLabel</a:t>
            </a:r>
            <a:endParaRPr lang="en-IN" sz="800" dirty="0"/>
          </a:p>
        </p:txBody>
      </p:sp>
      <p:sp>
        <p:nvSpPr>
          <p:cNvPr id="163" name="TextBox 162"/>
          <p:cNvSpPr txBox="1"/>
          <p:nvPr/>
        </p:nvSpPr>
        <p:spPr>
          <a:xfrm>
            <a:off x="5257800" y="914400"/>
            <a:ext cx="1066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Search Saved OP List</a:t>
            </a:r>
            <a:endParaRPr lang="en-IN" sz="800" dirty="0"/>
          </a:p>
        </p:txBody>
      </p:sp>
      <p:sp>
        <p:nvSpPr>
          <p:cNvPr id="164" name="TextBox 163"/>
          <p:cNvSpPr txBox="1"/>
          <p:nvPr/>
        </p:nvSpPr>
        <p:spPr>
          <a:xfrm>
            <a:off x="6324600" y="914400"/>
            <a:ext cx="6858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Tracking</a:t>
            </a:r>
            <a:endParaRPr lang="en-IN" sz="800" dirty="0"/>
          </a:p>
        </p:txBody>
      </p:sp>
      <p:sp>
        <p:nvSpPr>
          <p:cNvPr id="165" name="Rectangle 164"/>
          <p:cNvSpPr/>
          <p:nvPr/>
        </p:nvSpPr>
        <p:spPr>
          <a:xfrm>
            <a:off x="7696200" y="5105400"/>
            <a:ext cx="1219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50" dirty="0">
              <a:solidFill>
                <a:schemeClr val="bg2"/>
              </a:solidFill>
            </a:endParaRPr>
          </a:p>
        </p:txBody>
      </p:sp>
      <p:sp>
        <p:nvSpPr>
          <p:cNvPr id="166" name="Rectangle 165"/>
          <p:cNvSpPr/>
          <p:nvPr/>
        </p:nvSpPr>
        <p:spPr>
          <a:xfrm>
            <a:off x="4724400" y="1524000"/>
            <a:ext cx="990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7" name="TextBox 166"/>
          <p:cNvSpPr txBox="1"/>
          <p:nvPr/>
        </p:nvSpPr>
        <p:spPr>
          <a:xfrm>
            <a:off x="3581400" y="1447800"/>
            <a:ext cx="10358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 smtClean="0"/>
              <a:t>Health Card NO</a:t>
            </a:r>
            <a:endParaRPr lang="en-IN" sz="1050" dirty="0"/>
          </a:p>
        </p:txBody>
      </p:sp>
      <p:sp>
        <p:nvSpPr>
          <p:cNvPr id="168" name="TextBox 167"/>
          <p:cNvSpPr txBox="1"/>
          <p:nvPr/>
        </p:nvSpPr>
        <p:spPr>
          <a:xfrm>
            <a:off x="4114800" y="838200"/>
            <a:ext cx="45720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Templates</a:t>
            </a:r>
            <a:endParaRPr lang="en-IN" sz="800" dirty="0"/>
          </a:p>
        </p:txBody>
      </p:sp>
      <p:cxnSp>
        <p:nvCxnSpPr>
          <p:cNvPr id="170" name="Straight Arrow Connector 169"/>
          <p:cNvCxnSpPr>
            <a:stCxn id="168" idx="0"/>
          </p:cNvCxnSpPr>
          <p:nvPr/>
        </p:nvCxnSpPr>
        <p:spPr>
          <a:xfrm rot="5400000" flipH="1" flipV="1">
            <a:off x="4572000" y="304800"/>
            <a:ext cx="3048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5334000" y="152400"/>
            <a:ext cx="35413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 smtClean="0"/>
              <a:t>Templates selection temp1,temp2,temp3</a:t>
            </a:r>
          </a:p>
          <a:p>
            <a:r>
              <a:rPr lang="en-IN" sz="1050" dirty="0" smtClean="0"/>
              <a:t>From crystal report ,its used to separate </a:t>
            </a:r>
            <a:r>
              <a:rPr lang="en-IN" sz="1050" dirty="0" err="1" smtClean="0"/>
              <a:t>dr</a:t>
            </a:r>
            <a:r>
              <a:rPr lang="en-IN" sz="1050" dirty="0" smtClean="0"/>
              <a:t> wise prescriptions</a:t>
            </a:r>
            <a:endParaRPr lang="en-IN" sz="1050" dirty="0"/>
          </a:p>
        </p:txBody>
      </p:sp>
      <p:sp>
        <p:nvSpPr>
          <p:cNvPr id="173" name="TextBox 172"/>
          <p:cNvSpPr txBox="1"/>
          <p:nvPr/>
        </p:nvSpPr>
        <p:spPr>
          <a:xfrm>
            <a:off x="7010400" y="914400"/>
            <a:ext cx="9906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Appointments</a:t>
            </a:r>
            <a:endParaRPr lang="en-IN" sz="800" dirty="0"/>
          </a:p>
        </p:txBody>
      </p:sp>
      <p:sp>
        <p:nvSpPr>
          <p:cNvPr id="174" name="TextBox 173"/>
          <p:cNvSpPr txBox="1"/>
          <p:nvPr/>
        </p:nvSpPr>
        <p:spPr>
          <a:xfrm>
            <a:off x="8001000" y="914400"/>
            <a:ext cx="990600" cy="215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800" dirty="0" smtClean="0"/>
              <a:t>Close</a:t>
            </a:r>
            <a:endParaRPr lang="en-IN" sz="800" dirty="0"/>
          </a:p>
        </p:txBody>
      </p:sp>
      <p:sp>
        <p:nvSpPr>
          <p:cNvPr id="175" name="TextBox 174"/>
          <p:cNvSpPr txBox="1"/>
          <p:nvPr/>
        </p:nvSpPr>
        <p:spPr>
          <a:xfrm>
            <a:off x="6644309" y="5105400"/>
            <a:ext cx="10518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 smtClean="0"/>
              <a:t>Registration fee</a:t>
            </a:r>
            <a:endParaRPr lang="en-IN" sz="1050" dirty="0"/>
          </a:p>
        </p:txBody>
      </p:sp>
      <p:sp>
        <p:nvSpPr>
          <p:cNvPr id="184" name="Rectangle 183"/>
          <p:cNvSpPr/>
          <p:nvPr/>
        </p:nvSpPr>
        <p:spPr>
          <a:xfrm>
            <a:off x="1981200" y="3124200"/>
            <a:ext cx="1524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Aadhar Card No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1905000" y="5486400"/>
            <a:ext cx="2133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4191000" y="5486400"/>
            <a:ext cx="609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Add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7696200" y="4800600"/>
            <a:ext cx="1219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6629400" y="4724400"/>
            <a:ext cx="909223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Sub Category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696200" y="4419600"/>
            <a:ext cx="1219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bg2">
                    <a:lumMod val="75000"/>
                  </a:schemeClr>
                </a:solidFill>
              </a:rPr>
              <a:t>Master Data</a:t>
            </a:r>
            <a:endParaRPr lang="en-IN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6629400" y="4419600"/>
            <a:ext cx="899605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Pay Category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076248" y="6447093"/>
            <a:ext cx="657552" cy="309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dirty="0" smtClean="0"/>
              <a:t>Remarks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4648200" y="3175084"/>
            <a:ext cx="1066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 smtClean="0">
                <a:solidFill>
                  <a:schemeClr val="bg2">
                    <a:lumMod val="75000"/>
                  </a:schemeClr>
                </a:solidFill>
              </a:rPr>
              <a:t>District</a:t>
            </a:r>
            <a:endParaRPr lang="en-IN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3581400" y="3098884"/>
            <a:ext cx="8611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/>
              <a:t>District/City</a:t>
            </a:r>
            <a:endParaRPr lang="en-IN" sz="105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2725</TotalTime>
  <Words>3237</Words>
  <Application>Microsoft Office PowerPoint</Application>
  <PresentationFormat>On-screen Show (4:3)</PresentationFormat>
  <Paragraphs>1805</Paragraphs>
  <Slides>40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Anilkumar</dc:creator>
  <cp:lastModifiedBy>Liberty Computers</cp:lastModifiedBy>
  <cp:revision>522</cp:revision>
  <dcterms:created xsi:type="dcterms:W3CDTF">2006-08-16T00:00:00Z</dcterms:created>
  <dcterms:modified xsi:type="dcterms:W3CDTF">2025-10-30T06:16:26Z</dcterms:modified>
</cp:coreProperties>
</file>